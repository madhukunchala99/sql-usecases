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snapToObjects="1">
      <p:cViewPr varScale="1">
        <p:scale>
          <a:sx n="84" d="100"/>
          <a:sy n="84" d="100"/>
        </p:scale>
        <p:origin x="648"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7741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Tracing example: A customer asks about returning a laptop. LangSmith can show the question, prompt, retrieved policy, LLM call and final answer. If the answer is wrong, inspect whether the retriever found the wrong policy or the model ignored the correct context.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Evaluation example: Take 100 customer questions and run the RAG application. Score relevance, correctness and groundedness. Compare two application versions on exactly the same test set.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Prompt example: Version 1 says 'Answer the customer.' Version 2 says 'Answer using only policy context; be concise.' Run both against the same questions and compare scores before choosing a version.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example: Keep representative questions such as password reset, return policy and order tracking. Re-run the dataset after changing the prompt or model to catch regressions.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Monitoring example: In production, watch latency, errors, quality and usage/cost. If quality drops, open traces to investigate, fix the application, retest, and continue monitoring.</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Real-world example: CommandBar described HelpHub as a GPT-powered chatbot for websites/help centers. It used search to find relevant documentation, LangChain to combine search results into prompts, and LangSmith to capture traces and optimize chatbot functionality. Use this as the concrete RAG story.</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Rounded Rectangle 1"/>
          <p:cNvSpPr/>
          <p:nvPr/>
        </p:nvSpPr>
        <p:spPr>
          <a:xfrm>
            <a:off x="801130" y="566928"/>
            <a:ext cx="3573162"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08076"/>
            <a:ext cx="3573162" cy="238527"/>
          </a:xfrm>
          <a:prstGeom prst="rect">
            <a:avLst/>
          </a:prstGeom>
          <a:noFill/>
        </p:spPr>
        <p:txBody>
          <a:bodyPr wrap="square">
            <a:spAutoFit/>
          </a:bodyPr>
          <a:lstStyle/>
          <a:p>
            <a:pPr algn="ctr"/>
            <a:r>
              <a:rPr sz="950" b="1" dirty="0">
                <a:solidFill>
                  <a:srgbClr val="F5F7FC"/>
                </a:solidFill>
                <a:latin typeface="Aptos"/>
              </a:rPr>
              <a:t>GENERATIVE AI • DEVELOPER TOOL</a:t>
            </a:r>
          </a:p>
        </p:txBody>
      </p:sp>
      <p:sp>
        <p:nvSpPr>
          <p:cNvPr id="4" name="TextBox 3"/>
          <p:cNvSpPr txBox="1"/>
          <p:nvPr/>
        </p:nvSpPr>
        <p:spPr>
          <a:xfrm>
            <a:off x="685800" y="1325880"/>
            <a:ext cx="6400800" cy="731520"/>
          </a:xfrm>
          <a:prstGeom prst="rect">
            <a:avLst/>
          </a:prstGeom>
          <a:noFill/>
        </p:spPr>
        <p:txBody>
          <a:bodyPr wrap="square">
            <a:spAutoFit/>
          </a:bodyPr>
          <a:lstStyle/>
          <a:p>
            <a:pPr algn="l"/>
            <a:r>
              <a:rPr sz="4500" b="1">
                <a:solidFill>
                  <a:srgbClr val="F5F7FC"/>
                </a:solidFill>
                <a:latin typeface="Aptos"/>
              </a:rPr>
              <a:t>LangSmith</a:t>
            </a:r>
          </a:p>
        </p:txBody>
      </p:sp>
      <p:sp>
        <p:nvSpPr>
          <p:cNvPr id="5" name="TextBox 4"/>
          <p:cNvSpPr txBox="1"/>
          <p:nvPr/>
        </p:nvSpPr>
        <p:spPr>
          <a:xfrm>
            <a:off x="713232" y="2221992"/>
            <a:ext cx="6858000" cy="411480"/>
          </a:xfrm>
          <a:prstGeom prst="rect">
            <a:avLst/>
          </a:prstGeom>
          <a:noFill/>
        </p:spPr>
        <p:txBody>
          <a:bodyPr wrap="square">
            <a:spAutoFit/>
          </a:bodyPr>
          <a:lstStyle/>
          <a:p>
            <a:pPr algn="l"/>
            <a:r>
              <a:rPr sz="2100" b="1">
                <a:solidFill>
                  <a:srgbClr val="4D9AFF"/>
                </a:solidFill>
                <a:latin typeface="Aptos"/>
              </a:rPr>
              <a:t>Trace • Evaluate • Debug • Improve</a:t>
            </a:r>
          </a:p>
        </p:txBody>
      </p:sp>
      <p:sp>
        <p:nvSpPr>
          <p:cNvPr id="6" name="TextBox 5"/>
          <p:cNvSpPr txBox="1"/>
          <p:nvPr/>
        </p:nvSpPr>
        <p:spPr>
          <a:xfrm>
            <a:off x="731520" y="2907792"/>
            <a:ext cx="6217920" cy="457200"/>
          </a:xfrm>
          <a:prstGeom prst="rect">
            <a:avLst/>
          </a:prstGeom>
          <a:noFill/>
        </p:spPr>
        <p:txBody>
          <a:bodyPr wrap="square">
            <a:spAutoFit/>
          </a:bodyPr>
          <a:lstStyle/>
          <a:p>
            <a:pPr algn="l"/>
            <a:r>
              <a:rPr sz="1500" b="0">
                <a:solidFill>
                  <a:srgbClr val="A5B2CA"/>
                </a:solidFill>
                <a:latin typeface="Aptos"/>
              </a:rPr>
              <a:t>A practical introduction to reliable LLM applications</a:t>
            </a:r>
          </a:p>
        </p:txBody>
      </p:sp>
      <p:sp>
        <p:nvSpPr>
          <p:cNvPr id="7" name="Oval 6"/>
          <p:cNvSpPr/>
          <p:nvPr/>
        </p:nvSpPr>
        <p:spPr>
          <a:xfrm>
            <a:off x="8412480" y="1280160"/>
            <a:ext cx="658368" cy="658368"/>
          </a:xfrm>
          <a:prstGeom prst="ellipse">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412480" y="1490472"/>
            <a:ext cx="658368" cy="182880"/>
          </a:xfrm>
          <a:prstGeom prst="rect">
            <a:avLst/>
          </a:prstGeom>
          <a:noFill/>
        </p:spPr>
        <p:txBody>
          <a:bodyPr wrap="square">
            <a:spAutoFit/>
          </a:bodyPr>
          <a:lstStyle/>
          <a:p>
            <a:pPr algn="ctr"/>
            <a:r>
              <a:rPr sz="900" b="1">
                <a:solidFill>
                  <a:srgbClr val="F5F7FC"/>
                </a:solidFill>
                <a:latin typeface="Aptos"/>
              </a:rPr>
              <a:t>AI</a:t>
            </a:r>
          </a:p>
        </p:txBody>
      </p:sp>
      <p:sp>
        <p:nvSpPr>
          <p:cNvPr id="9" name="Oval 8"/>
          <p:cNvSpPr/>
          <p:nvPr/>
        </p:nvSpPr>
        <p:spPr>
          <a:xfrm>
            <a:off x="9784080" y="1920240"/>
            <a:ext cx="658368" cy="658368"/>
          </a:xfrm>
          <a:prstGeom prst="ellipse">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0" y="2130552"/>
            <a:ext cx="658368" cy="182880"/>
          </a:xfrm>
          <a:prstGeom prst="rect">
            <a:avLst/>
          </a:prstGeom>
          <a:noFill/>
        </p:spPr>
        <p:txBody>
          <a:bodyPr wrap="square">
            <a:spAutoFit/>
          </a:bodyPr>
          <a:lstStyle/>
          <a:p>
            <a:pPr algn="ctr"/>
            <a:r>
              <a:rPr sz="900" b="1">
                <a:solidFill>
                  <a:srgbClr val="F5F7FC"/>
                </a:solidFill>
                <a:latin typeface="Aptos"/>
              </a:rPr>
              <a:t>AI</a:t>
            </a:r>
          </a:p>
        </p:txBody>
      </p:sp>
      <p:sp>
        <p:nvSpPr>
          <p:cNvPr id="11" name="Oval 10"/>
          <p:cNvSpPr/>
          <p:nvPr/>
        </p:nvSpPr>
        <p:spPr>
          <a:xfrm>
            <a:off x="8686800" y="2971800"/>
            <a:ext cx="658368" cy="658368"/>
          </a:xfrm>
          <a:prstGeom prst="ellipse">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0" y="3182112"/>
            <a:ext cx="658368" cy="182880"/>
          </a:xfrm>
          <a:prstGeom prst="rect">
            <a:avLst/>
          </a:prstGeom>
          <a:noFill/>
        </p:spPr>
        <p:txBody>
          <a:bodyPr wrap="square">
            <a:spAutoFit/>
          </a:bodyPr>
          <a:lstStyle/>
          <a:p>
            <a:pPr algn="ctr"/>
            <a:r>
              <a:rPr sz="900" b="1">
                <a:solidFill>
                  <a:srgbClr val="F5F7FC"/>
                </a:solidFill>
                <a:latin typeface="Aptos"/>
              </a:rPr>
              <a:t>AI</a:t>
            </a:r>
          </a:p>
        </p:txBody>
      </p:sp>
      <p:sp>
        <p:nvSpPr>
          <p:cNvPr id="13" name="Oval 12"/>
          <p:cNvSpPr/>
          <p:nvPr/>
        </p:nvSpPr>
        <p:spPr>
          <a:xfrm>
            <a:off x="10241280" y="3246120"/>
            <a:ext cx="658368" cy="658368"/>
          </a:xfrm>
          <a:prstGeom prst="ellipse">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241280" y="3456432"/>
            <a:ext cx="658368" cy="182880"/>
          </a:xfrm>
          <a:prstGeom prst="rect">
            <a:avLst/>
          </a:prstGeom>
          <a:noFill/>
        </p:spPr>
        <p:txBody>
          <a:bodyPr wrap="square">
            <a:spAutoFit/>
          </a:bodyPr>
          <a:lstStyle/>
          <a:p>
            <a:pPr algn="ctr"/>
            <a:r>
              <a:rPr sz="900" b="1">
                <a:solidFill>
                  <a:srgbClr val="F5F7FC"/>
                </a:solidFill>
                <a:latin typeface="Aptos"/>
              </a:rPr>
              <a:t>AI</a:t>
            </a:r>
          </a:p>
        </p:txBody>
      </p:sp>
      <p:sp>
        <p:nvSpPr>
          <p:cNvPr id="15" name="Oval 14"/>
          <p:cNvSpPr/>
          <p:nvPr/>
        </p:nvSpPr>
        <p:spPr>
          <a:xfrm>
            <a:off x="9372600" y="4297680"/>
            <a:ext cx="658368" cy="658368"/>
          </a:xfrm>
          <a:prstGeom prst="ellipse">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372600" y="4507992"/>
            <a:ext cx="658368" cy="182880"/>
          </a:xfrm>
          <a:prstGeom prst="rect">
            <a:avLst/>
          </a:prstGeom>
          <a:noFill/>
        </p:spPr>
        <p:txBody>
          <a:bodyPr wrap="square">
            <a:spAutoFit/>
          </a:bodyPr>
          <a:lstStyle/>
          <a:p>
            <a:pPr algn="ctr"/>
            <a:r>
              <a:rPr sz="900" b="1">
                <a:solidFill>
                  <a:srgbClr val="F5F7FC"/>
                </a:solidFill>
                <a:latin typeface="Aptos"/>
              </a:rPr>
              <a:t>AI</a:t>
            </a:r>
          </a:p>
        </p:txBody>
      </p:sp>
      <p:cxnSp>
        <p:nvCxnSpPr>
          <p:cNvPr id="17" name="Connector 16"/>
          <p:cNvCxnSpPr/>
          <p:nvPr/>
        </p:nvCxnSpPr>
        <p:spPr>
          <a:xfrm>
            <a:off x="9052560" y="1600200"/>
            <a:ext cx="685800" cy="365760"/>
          </a:xfrm>
          <a:prstGeom prst="line">
            <a:avLst/>
          </a:prstGeom>
          <a:ln w="25400">
            <a:solidFill>
              <a:srgbClr val="895E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8961120" y="2514600"/>
            <a:ext cx="1005840" cy="457200"/>
          </a:xfrm>
          <a:prstGeom prst="line">
            <a:avLst/>
          </a:prstGeom>
          <a:ln w="25400">
            <a:solidFill>
              <a:srgbClr val="4D9A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9098280" y="3474720"/>
            <a:ext cx="1097280" cy="137160"/>
          </a:xfrm>
          <a:prstGeom prst="line">
            <a:avLst/>
          </a:prstGeom>
          <a:ln w="25400">
            <a:solidFill>
              <a:srgbClr val="3ED3E1"/>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9738360" y="3886200"/>
            <a:ext cx="731520" cy="411480"/>
          </a:xfrm>
          <a:prstGeom prst="line">
            <a:avLst/>
          </a:prstGeom>
          <a:ln w="25400">
            <a:solidFill>
              <a:srgbClr val="41D28F"/>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5440680"/>
            <a:ext cx="5486400" cy="369332"/>
          </a:xfrm>
          <a:prstGeom prst="rect">
            <a:avLst/>
          </a:prstGeom>
          <a:noFill/>
        </p:spPr>
        <p:txBody>
          <a:bodyPr wrap="square">
            <a:spAutoFit/>
          </a:bodyPr>
          <a:lstStyle/>
          <a:p>
            <a:pPr algn="l"/>
            <a:r>
              <a:rPr b="1" dirty="0">
                <a:solidFill>
                  <a:srgbClr val="F5F7FC"/>
                </a:solidFill>
                <a:latin typeface="Aptos"/>
              </a:rPr>
              <a:t>Presented by: Venkata Madhu K</a:t>
            </a:r>
          </a:p>
        </p:txBody>
      </p:sp>
      <p:sp>
        <p:nvSpPr>
          <p:cNvPr id="22" name="TextBox 21"/>
          <p:cNvSpPr txBox="1"/>
          <p:nvPr/>
        </p:nvSpPr>
        <p:spPr>
          <a:xfrm>
            <a:off x="731520" y="5797296"/>
            <a:ext cx="6217920" cy="228600"/>
          </a:xfrm>
          <a:prstGeom prst="rect">
            <a:avLst/>
          </a:prstGeom>
          <a:noFill/>
        </p:spPr>
        <p:txBody>
          <a:bodyPr wrap="square">
            <a:spAutoFit/>
          </a:bodyPr>
          <a:lstStyle/>
          <a:p>
            <a:pPr algn="l"/>
            <a:r>
              <a:rPr sz="1050" b="0">
                <a:solidFill>
                  <a:srgbClr val="A5B2CA"/>
                </a:solidFill>
                <a:latin typeface="Aptos"/>
              </a:rPr>
              <a:t>LangSmith • LLM Application Observability &amp; Evaluation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Introduction to Generative AI</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Generative AI creates new content from patterns learned from data.</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02</a:t>
            </a:r>
          </a:p>
        </p:txBody>
      </p:sp>
      <p:sp>
        <p:nvSpPr>
          <p:cNvPr id="5" name="Rounded Rectangle 4"/>
          <p:cNvSpPr/>
          <p:nvPr/>
        </p:nvSpPr>
        <p:spPr>
          <a:xfrm>
            <a:off x="658368" y="1508760"/>
            <a:ext cx="4754880" cy="35661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58368" y="1508760"/>
            <a:ext cx="50292" cy="356616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9536" y="1636776"/>
            <a:ext cx="4407408" cy="310896"/>
          </a:xfrm>
          <a:prstGeom prst="rect">
            <a:avLst/>
          </a:prstGeom>
          <a:noFill/>
        </p:spPr>
        <p:txBody>
          <a:bodyPr wrap="square">
            <a:spAutoFit/>
          </a:bodyPr>
          <a:lstStyle/>
          <a:p>
            <a:pPr algn="l"/>
            <a:r>
              <a:rPr sz="1700" b="1">
                <a:solidFill>
                  <a:srgbClr val="F5F7FC"/>
                </a:solidFill>
                <a:latin typeface="Aptos"/>
              </a:rPr>
              <a:t>Simple theory</a:t>
            </a:r>
          </a:p>
        </p:txBody>
      </p:sp>
      <p:sp>
        <p:nvSpPr>
          <p:cNvPr id="8" name="TextBox 7"/>
          <p:cNvSpPr txBox="1"/>
          <p:nvPr/>
        </p:nvSpPr>
        <p:spPr>
          <a:xfrm>
            <a:off x="859536" y="2020824"/>
            <a:ext cx="4389120" cy="2944368"/>
          </a:xfrm>
          <a:prstGeom prst="rect">
            <a:avLst/>
          </a:prstGeom>
          <a:noFill/>
        </p:spPr>
        <p:txBody>
          <a:bodyPr wrap="square">
            <a:spAutoFit/>
          </a:bodyPr>
          <a:lstStyle/>
          <a:p>
            <a:pPr algn="l"/>
            <a:r>
              <a:rPr sz="1220" b="0">
                <a:solidFill>
                  <a:srgbClr val="A5B2CA"/>
                </a:solidFill>
                <a:latin typeface="Aptos"/>
              </a:rPr>
              <a:t>• Generates text, code, summaries, images and more.
• LLMs are widely used for language generation.
• Real applications combine models with prompts, data and tools.
• Examples: chatbots, document Q&amp;A and AI agents.</a:t>
            </a:r>
          </a:p>
        </p:txBody>
      </p:sp>
      <p:sp>
        <p:nvSpPr>
          <p:cNvPr id="9" name="Rounded Rectangle 8"/>
          <p:cNvSpPr/>
          <p:nvPr/>
        </p:nvSpPr>
        <p:spPr>
          <a:xfrm>
            <a:off x="5897880" y="2240280"/>
            <a:ext cx="1170432" cy="10515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897880" y="2240280"/>
            <a:ext cx="50292" cy="105156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099048" y="2368296"/>
            <a:ext cx="822960" cy="310896"/>
          </a:xfrm>
          <a:prstGeom prst="rect">
            <a:avLst/>
          </a:prstGeom>
          <a:noFill/>
        </p:spPr>
        <p:txBody>
          <a:bodyPr wrap="square">
            <a:spAutoFit/>
          </a:bodyPr>
          <a:lstStyle/>
          <a:p>
            <a:pPr algn="l"/>
            <a:r>
              <a:rPr sz="1150" b="1">
                <a:solidFill>
                  <a:srgbClr val="F5F7FC"/>
                </a:solidFill>
                <a:latin typeface="Aptos"/>
              </a:rPr>
              <a:t>USER</a:t>
            </a:r>
          </a:p>
        </p:txBody>
      </p:sp>
      <p:sp>
        <p:nvSpPr>
          <p:cNvPr id="12" name="TextBox 11"/>
          <p:cNvSpPr txBox="1"/>
          <p:nvPr/>
        </p:nvSpPr>
        <p:spPr>
          <a:xfrm>
            <a:off x="6099048" y="2752344"/>
            <a:ext cx="804672" cy="429767"/>
          </a:xfrm>
          <a:prstGeom prst="rect">
            <a:avLst/>
          </a:prstGeom>
          <a:noFill/>
        </p:spPr>
        <p:txBody>
          <a:bodyPr wrap="square">
            <a:spAutoFit/>
          </a:bodyPr>
          <a:lstStyle/>
          <a:p>
            <a:pPr algn="l"/>
            <a:r>
              <a:rPr sz="900" b="0">
                <a:solidFill>
                  <a:srgbClr val="A5B2CA"/>
                </a:solidFill>
                <a:latin typeface="Aptos"/>
              </a:rPr>
              <a:t>Question</a:t>
            </a:r>
          </a:p>
        </p:txBody>
      </p:sp>
      <p:cxnSp>
        <p:nvCxnSpPr>
          <p:cNvPr id="13" name="Connector 12"/>
          <p:cNvCxnSpPr/>
          <p:nvPr/>
        </p:nvCxnSpPr>
        <p:spPr>
          <a:xfrm>
            <a:off x="7086600" y="2761488"/>
            <a:ext cx="118872" cy="0"/>
          </a:xfrm>
          <a:prstGeom prst="line">
            <a:avLst/>
          </a:prstGeom>
          <a:ln w="25400">
            <a:solidFill>
              <a:srgbClr val="4D9AFF"/>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251192" y="2240280"/>
            <a:ext cx="1170432" cy="10515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251192" y="2240280"/>
            <a:ext cx="50292" cy="105156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52360" y="2368296"/>
            <a:ext cx="822960" cy="310896"/>
          </a:xfrm>
          <a:prstGeom prst="rect">
            <a:avLst/>
          </a:prstGeom>
          <a:noFill/>
        </p:spPr>
        <p:txBody>
          <a:bodyPr wrap="square">
            <a:spAutoFit/>
          </a:bodyPr>
          <a:lstStyle/>
          <a:p>
            <a:pPr algn="l"/>
            <a:r>
              <a:rPr sz="1150" b="1">
                <a:solidFill>
                  <a:srgbClr val="F5F7FC"/>
                </a:solidFill>
                <a:latin typeface="Aptos"/>
              </a:rPr>
              <a:t>PROMPT</a:t>
            </a:r>
          </a:p>
        </p:txBody>
      </p:sp>
      <p:sp>
        <p:nvSpPr>
          <p:cNvPr id="17" name="TextBox 16"/>
          <p:cNvSpPr txBox="1"/>
          <p:nvPr/>
        </p:nvSpPr>
        <p:spPr>
          <a:xfrm>
            <a:off x="7452360" y="2752344"/>
            <a:ext cx="804672" cy="429767"/>
          </a:xfrm>
          <a:prstGeom prst="rect">
            <a:avLst/>
          </a:prstGeom>
          <a:noFill/>
        </p:spPr>
        <p:txBody>
          <a:bodyPr wrap="square">
            <a:spAutoFit/>
          </a:bodyPr>
          <a:lstStyle/>
          <a:p>
            <a:pPr algn="l"/>
            <a:r>
              <a:rPr sz="900" b="0">
                <a:solidFill>
                  <a:srgbClr val="A5B2CA"/>
                </a:solidFill>
                <a:latin typeface="Aptos"/>
              </a:rPr>
              <a:t>Instruction</a:t>
            </a:r>
          </a:p>
        </p:txBody>
      </p:sp>
      <p:cxnSp>
        <p:nvCxnSpPr>
          <p:cNvPr id="18" name="Connector 17"/>
          <p:cNvCxnSpPr/>
          <p:nvPr/>
        </p:nvCxnSpPr>
        <p:spPr>
          <a:xfrm>
            <a:off x="8439912" y="2761488"/>
            <a:ext cx="118872" cy="0"/>
          </a:xfrm>
          <a:prstGeom prst="line">
            <a:avLst/>
          </a:prstGeom>
          <a:ln w="25400">
            <a:solidFill>
              <a:srgbClr val="895EF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604504" y="2240280"/>
            <a:ext cx="1170432" cy="10515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04504" y="2240280"/>
            <a:ext cx="50292" cy="105156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805672" y="2368296"/>
            <a:ext cx="822960" cy="310896"/>
          </a:xfrm>
          <a:prstGeom prst="rect">
            <a:avLst/>
          </a:prstGeom>
          <a:noFill/>
        </p:spPr>
        <p:txBody>
          <a:bodyPr wrap="square">
            <a:spAutoFit/>
          </a:bodyPr>
          <a:lstStyle/>
          <a:p>
            <a:pPr algn="l"/>
            <a:r>
              <a:rPr sz="1150" b="1">
                <a:solidFill>
                  <a:srgbClr val="F5F7FC"/>
                </a:solidFill>
                <a:latin typeface="Aptos"/>
              </a:rPr>
              <a:t>LLM</a:t>
            </a:r>
          </a:p>
        </p:txBody>
      </p:sp>
      <p:sp>
        <p:nvSpPr>
          <p:cNvPr id="22" name="TextBox 21"/>
          <p:cNvSpPr txBox="1"/>
          <p:nvPr/>
        </p:nvSpPr>
        <p:spPr>
          <a:xfrm>
            <a:off x="8805672" y="2752344"/>
            <a:ext cx="804672" cy="429767"/>
          </a:xfrm>
          <a:prstGeom prst="rect">
            <a:avLst/>
          </a:prstGeom>
          <a:noFill/>
        </p:spPr>
        <p:txBody>
          <a:bodyPr wrap="square">
            <a:spAutoFit/>
          </a:bodyPr>
          <a:lstStyle/>
          <a:p>
            <a:pPr algn="l"/>
            <a:r>
              <a:rPr sz="900" b="0">
                <a:solidFill>
                  <a:srgbClr val="A5B2CA"/>
                </a:solidFill>
                <a:latin typeface="Aptos"/>
              </a:rPr>
              <a:t>Generate</a:t>
            </a:r>
          </a:p>
        </p:txBody>
      </p:sp>
      <p:cxnSp>
        <p:nvCxnSpPr>
          <p:cNvPr id="23" name="Connector 22"/>
          <p:cNvCxnSpPr/>
          <p:nvPr/>
        </p:nvCxnSpPr>
        <p:spPr>
          <a:xfrm>
            <a:off x="9793224" y="2761488"/>
            <a:ext cx="118872" cy="0"/>
          </a:xfrm>
          <a:prstGeom prst="line">
            <a:avLst/>
          </a:prstGeom>
          <a:ln w="25400">
            <a:solidFill>
              <a:srgbClr val="41D28F"/>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57816" y="2240280"/>
            <a:ext cx="1170432" cy="10515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9957816" y="2240280"/>
            <a:ext cx="50292" cy="105156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158984" y="2368296"/>
            <a:ext cx="822960" cy="310896"/>
          </a:xfrm>
          <a:prstGeom prst="rect">
            <a:avLst/>
          </a:prstGeom>
          <a:noFill/>
        </p:spPr>
        <p:txBody>
          <a:bodyPr wrap="square">
            <a:spAutoFit/>
          </a:bodyPr>
          <a:lstStyle/>
          <a:p>
            <a:pPr algn="l"/>
            <a:r>
              <a:rPr sz="1150" b="1">
                <a:solidFill>
                  <a:srgbClr val="F5F7FC"/>
                </a:solidFill>
                <a:latin typeface="Aptos"/>
              </a:rPr>
              <a:t>OUTPUT</a:t>
            </a:r>
          </a:p>
        </p:txBody>
      </p:sp>
      <p:sp>
        <p:nvSpPr>
          <p:cNvPr id="27" name="TextBox 26"/>
          <p:cNvSpPr txBox="1"/>
          <p:nvPr/>
        </p:nvSpPr>
        <p:spPr>
          <a:xfrm>
            <a:off x="10158984" y="2752344"/>
            <a:ext cx="804672" cy="429767"/>
          </a:xfrm>
          <a:prstGeom prst="rect">
            <a:avLst/>
          </a:prstGeom>
          <a:noFill/>
        </p:spPr>
        <p:txBody>
          <a:bodyPr wrap="square">
            <a:spAutoFit/>
          </a:bodyPr>
          <a:lstStyle/>
          <a:p>
            <a:pPr algn="l"/>
            <a:r>
              <a:rPr sz="900" b="0">
                <a:solidFill>
                  <a:srgbClr val="A5B2CA"/>
                </a:solidFill>
                <a:latin typeface="Aptos"/>
              </a:rPr>
              <a:t>Answer</a:t>
            </a:r>
          </a:p>
        </p:txBody>
      </p:sp>
      <p:sp>
        <p:nvSpPr>
          <p:cNvPr id="28" name="Rounded Rectangle 27"/>
          <p:cNvSpPr/>
          <p:nvPr/>
        </p:nvSpPr>
        <p:spPr>
          <a:xfrm>
            <a:off x="5897880" y="3886200"/>
            <a:ext cx="5166360" cy="10515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897880" y="3886200"/>
            <a:ext cx="50292" cy="1051560"/>
          </a:xfrm>
          <a:prstGeom prst="rect">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99048" y="4014215"/>
            <a:ext cx="4818888" cy="310896"/>
          </a:xfrm>
          <a:prstGeom prst="rect">
            <a:avLst/>
          </a:prstGeom>
          <a:noFill/>
        </p:spPr>
        <p:txBody>
          <a:bodyPr wrap="square">
            <a:spAutoFit/>
          </a:bodyPr>
          <a:lstStyle/>
          <a:p>
            <a:pPr algn="l"/>
            <a:r>
              <a:rPr sz="1400" b="1">
                <a:solidFill>
                  <a:srgbClr val="F5F7FC"/>
                </a:solidFill>
                <a:latin typeface="Aptos"/>
              </a:rPr>
              <a:t>Real-world uses</a:t>
            </a:r>
          </a:p>
        </p:txBody>
      </p:sp>
      <p:sp>
        <p:nvSpPr>
          <p:cNvPr id="31" name="TextBox 30"/>
          <p:cNvSpPr txBox="1"/>
          <p:nvPr/>
        </p:nvSpPr>
        <p:spPr>
          <a:xfrm>
            <a:off x="6099048" y="4398264"/>
            <a:ext cx="4800600" cy="429767"/>
          </a:xfrm>
          <a:prstGeom prst="rect">
            <a:avLst/>
          </a:prstGeom>
          <a:noFill/>
        </p:spPr>
        <p:txBody>
          <a:bodyPr wrap="square">
            <a:spAutoFit/>
          </a:bodyPr>
          <a:lstStyle/>
          <a:p>
            <a:pPr algn="l"/>
            <a:r>
              <a:rPr sz="1050" b="0">
                <a:solidFill>
                  <a:srgbClr val="A5B2CA"/>
                </a:solidFill>
                <a:latin typeface="Aptos"/>
              </a:rPr>
              <a:t>Customer support • Coding assistants • Knowledge chatbots • Content generation</a:t>
            </a:r>
          </a:p>
        </p:txBody>
      </p:sp>
      <p:sp>
        <p:nvSpPr>
          <p:cNvPr id="32" name="TextBox 31"/>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What are LLM applications?</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An LLM application is a workflow around the model — not just the model itself.</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03</a:t>
            </a:r>
          </a:p>
        </p:txBody>
      </p:sp>
      <p:sp>
        <p:nvSpPr>
          <p:cNvPr id="5" name="Rounded Rectangle 4"/>
          <p:cNvSpPr/>
          <p:nvPr/>
        </p:nvSpPr>
        <p:spPr>
          <a:xfrm>
            <a:off x="685800" y="1508760"/>
            <a:ext cx="4983480" cy="36118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08760"/>
            <a:ext cx="50292" cy="361188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636776"/>
            <a:ext cx="4636008" cy="310896"/>
          </a:xfrm>
          <a:prstGeom prst="rect">
            <a:avLst/>
          </a:prstGeom>
          <a:noFill/>
        </p:spPr>
        <p:txBody>
          <a:bodyPr wrap="square">
            <a:spAutoFit/>
          </a:bodyPr>
          <a:lstStyle/>
          <a:p>
            <a:pPr algn="l"/>
            <a:r>
              <a:rPr sz="1700" b="1">
                <a:solidFill>
                  <a:srgbClr val="F5F7FC"/>
                </a:solidFill>
                <a:latin typeface="Aptos"/>
              </a:rPr>
              <a:t>Simple application</a:t>
            </a:r>
          </a:p>
        </p:txBody>
      </p:sp>
      <p:sp>
        <p:nvSpPr>
          <p:cNvPr id="8" name="TextBox 7"/>
          <p:cNvSpPr txBox="1"/>
          <p:nvPr/>
        </p:nvSpPr>
        <p:spPr>
          <a:xfrm>
            <a:off x="886968" y="2020824"/>
            <a:ext cx="4617720" cy="2990088"/>
          </a:xfrm>
          <a:prstGeom prst="rect">
            <a:avLst/>
          </a:prstGeom>
          <a:noFill/>
        </p:spPr>
        <p:txBody>
          <a:bodyPr wrap="square">
            <a:spAutoFit/>
          </a:bodyPr>
          <a:lstStyle/>
          <a:p>
            <a:pPr algn="l"/>
            <a:r>
              <a:rPr sz="1300" b="0" dirty="0">
                <a:solidFill>
                  <a:srgbClr val="A5B2CA"/>
                </a:solidFill>
                <a:latin typeface="Aptos"/>
              </a:rPr>
              <a:t>User → Prompt → LLM → Answer
This works for basic chat, but real applications usually add more components.</a:t>
            </a:r>
          </a:p>
        </p:txBody>
      </p:sp>
      <p:sp>
        <p:nvSpPr>
          <p:cNvPr id="9" name="Rounded Rectangle 8"/>
          <p:cNvSpPr/>
          <p:nvPr/>
        </p:nvSpPr>
        <p:spPr>
          <a:xfrm>
            <a:off x="6080760" y="1508760"/>
            <a:ext cx="5074920" cy="36118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080760" y="1508760"/>
            <a:ext cx="50292" cy="361188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281928" y="1636776"/>
            <a:ext cx="4727448" cy="310896"/>
          </a:xfrm>
          <a:prstGeom prst="rect">
            <a:avLst/>
          </a:prstGeom>
          <a:noFill/>
        </p:spPr>
        <p:txBody>
          <a:bodyPr wrap="square">
            <a:spAutoFit/>
          </a:bodyPr>
          <a:lstStyle/>
          <a:p>
            <a:pPr algn="l"/>
            <a:r>
              <a:rPr sz="1700" b="1">
                <a:solidFill>
                  <a:srgbClr val="F5F7FC"/>
                </a:solidFill>
                <a:latin typeface="Aptos"/>
              </a:rPr>
              <a:t>Real-world application</a:t>
            </a:r>
          </a:p>
        </p:txBody>
      </p:sp>
      <p:sp>
        <p:nvSpPr>
          <p:cNvPr id="12" name="TextBox 11"/>
          <p:cNvSpPr txBox="1"/>
          <p:nvPr/>
        </p:nvSpPr>
        <p:spPr>
          <a:xfrm>
            <a:off x="6281928" y="2020824"/>
            <a:ext cx="4709159" cy="2990088"/>
          </a:xfrm>
          <a:prstGeom prst="rect">
            <a:avLst/>
          </a:prstGeom>
          <a:noFill/>
        </p:spPr>
        <p:txBody>
          <a:bodyPr wrap="square">
            <a:spAutoFit/>
          </a:bodyPr>
          <a:lstStyle/>
          <a:p>
            <a:pPr algn="l"/>
            <a:r>
              <a:rPr sz="1300" b="0">
                <a:solidFill>
                  <a:srgbClr val="A5B2CA"/>
                </a:solidFill>
                <a:latin typeface="Aptos"/>
              </a:rPr>
              <a:t>User question
↓
Prompt + context
↓
Retriever / tools / memory
↓
LLM
↓
Final answer</a:t>
            </a:r>
          </a:p>
        </p:txBody>
      </p:sp>
      <p:sp>
        <p:nvSpPr>
          <p:cNvPr id="13" name="Rounded Rectangle 12"/>
          <p:cNvSpPr/>
          <p:nvPr/>
        </p:nvSpPr>
        <p:spPr>
          <a:xfrm>
            <a:off x="868680" y="5440680"/>
            <a:ext cx="1143000" cy="310896"/>
          </a:xfrm>
          <a:prstGeom prst="round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5481828"/>
            <a:ext cx="1143000" cy="201168"/>
          </a:xfrm>
          <a:prstGeom prst="rect">
            <a:avLst/>
          </a:prstGeom>
          <a:noFill/>
        </p:spPr>
        <p:txBody>
          <a:bodyPr wrap="square">
            <a:spAutoFit/>
          </a:bodyPr>
          <a:lstStyle/>
          <a:p>
            <a:pPr algn="ctr"/>
            <a:r>
              <a:rPr sz="950" b="1">
                <a:solidFill>
                  <a:srgbClr val="F5F7FC"/>
                </a:solidFill>
                <a:latin typeface="Aptos"/>
              </a:rPr>
              <a:t>PROMPTS</a:t>
            </a:r>
          </a:p>
        </p:txBody>
      </p:sp>
      <p:sp>
        <p:nvSpPr>
          <p:cNvPr id="15" name="Rounded Rectangle 14"/>
          <p:cNvSpPr/>
          <p:nvPr/>
        </p:nvSpPr>
        <p:spPr>
          <a:xfrm>
            <a:off x="2148840" y="5440680"/>
            <a:ext cx="914400" cy="310896"/>
          </a:xfrm>
          <a:prstGeom prst="round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48840" y="5481828"/>
            <a:ext cx="914400" cy="201168"/>
          </a:xfrm>
          <a:prstGeom prst="rect">
            <a:avLst/>
          </a:prstGeom>
          <a:noFill/>
        </p:spPr>
        <p:txBody>
          <a:bodyPr wrap="square">
            <a:spAutoFit/>
          </a:bodyPr>
          <a:lstStyle/>
          <a:p>
            <a:pPr algn="ctr"/>
            <a:r>
              <a:rPr sz="950" b="1">
                <a:solidFill>
                  <a:srgbClr val="F5F7FC"/>
                </a:solidFill>
                <a:latin typeface="Aptos"/>
              </a:rPr>
              <a:t>DATA</a:t>
            </a:r>
          </a:p>
        </p:txBody>
      </p:sp>
      <p:sp>
        <p:nvSpPr>
          <p:cNvPr id="17" name="Rounded Rectangle 16"/>
          <p:cNvSpPr/>
          <p:nvPr/>
        </p:nvSpPr>
        <p:spPr>
          <a:xfrm>
            <a:off x="3200400" y="5440680"/>
            <a:ext cx="1005840" cy="310896"/>
          </a:xfrm>
          <a:prstGeom prst="round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00400" y="5481828"/>
            <a:ext cx="1005840" cy="201168"/>
          </a:xfrm>
          <a:prstGeom prst="rect">
            <a:avLst/>
          </a:prstGeom>
          <a:noFill/>
        </p:spPr>
        <p:txBody>
          <a:bodyPr wrap="square">
            <a:spAutoFit/>
          </a:bodyPr>
          <a:lstStyle/>
          <a:p>
            <a:pPr algn="ctr"/>
            <a:r>
              <a:rPr sz="950" b="1">
                <a:solidFill>
                  <a:srgbClr val="F5F7FC"/>
                </a:solidFill>
                <a:latin typeface="Aptos"/>
              </a:rPr>
              <a:t>TOOLS</a:t>
            </a:r>
          </a:p>
        </p:txBody>
      </p:sp>
      <p:sp>
        <p:nvSpPr>
          <p:cNvPr id="19" name="Rounded Rectangle 18"/>
          <p:cNvSpPr/>
          <p:nvPr/>
        </p:nvSpPr>
        <p:spPr>
          <a:xfrm>
            <a:off x="4343400" y="5440680"/>
            <a:ext cx="1234440" cy="310896"/>
          </a:xfrm>
          <a:prstGeom prst="roundRect">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343400" y="5481828"/>
            <a:ext cx="1234440" cy="201168"/>
          </a:xfrm>
          <a:prstGeom prst="rect">
            <a:avLst/>
          </a:prstGeom>
          <a:noFill/>
        </p:spPr>
        <p:txBody>
          <a:bodyPr wrap="square">
            <a:spAutoFit/>
          </a:bodyPr>
          <a:lstStyle/>
          <a:p>
            <a:pPr algn="ctr"/>
            <a:r>
              <a:rPr sz="950" b="1">
                <a:solidFill>
                  <a:srgbClr val="F5F7FC"/>
                </a:solidFill>
                <a:latin typeface="Aptos"/>
              </a:rPr>
              <a:t>MEMORY</a:t>
            </a:r>
          </a:p>
        </p:txBody>
      </p:sp>
      <p:sp>
        <p:nvSpPr>
          <p:cNvPr id="21" name="TextBox 20"/>
          <p:cNvSpPr txBox="1"/>
          <p:nvPr/>
        </p:nvSpPr>
        <p:spPr>
          <a:xfrm>
            <a:off x="6080760" y="5321808"/>
            <a:ext cx="5029200" cy="502920"/>
          </a:xfrm>
          <a:prstGeom prst="rect">
            <a:avLst/>
          </a:prstGeom>
          <a:noFill/>
        </p:spPr>
        <p:txBody>
          <a:bodyPr wrap="square">
            <a:spAutoFit/>
          </a:bodyPr>
          <a:lstStyle/>
          <a:p>
            <a:pPr algn="ctr"/>
            <a:r>
              <a:rPr sz="1450" b="1">
                <a:solidFill>
                  <a:srgbClr val="F5F7FC"/>
                </a:solidFill>
                <a:latin typeface="Aptos"/>
              </a:rPr>
              <a:t>More components = more places where a developer may need visibility.</a:t>
            </a:r>
          </a:p>
        </p:txBody>
      </p:sp>
      <p:sp>
        <p:nvSpPr>
          <p:cNvPr id="22" name="TextBox 21"/>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Why debugging GenAI applications is difficult</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The final answer does not always tell us where the problem happened.</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04</a:t>
            </a:r>
          </a:p>
        </p:txBody>
      </p:sp>
      <p:sp>
        <p:nvSpPr>
          <p:cNvPr id="5" name="Rounded Rectangle 4"/>
          <p:cNvSpPr/>
          <p:nvPr/>
        </p:nvSpPr>
        <p:spPr>
          <a:xfrm>
            <a:off x="685800" y="1554480"/>
            <a:ext cx="5029200" cy="13716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0292" cy="1371600"/>
          </a:xfrm>
          <a:prstGeom prst="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682495"/>
            <a:ext cx="4681728" cy="310896"/>
          </a:xfrm>
          <a:prstGeom prst="rect">
            <a:avLst/>
          </a:prstGeom>
          <a:noFill/>
        </p:spPr>
        <p:txBody>
          <a:bodyPr wrap="square">
            <a:spAutoFit/>
          </a:bodyPr>
          <a:lstStyle/>
          <a:p>
            <a:pPr algn="l"/>
            <a:r>
              <a:rPr sz="1600" b="1">
                <a:solidFill>
                  <a:srgbClr val="F5F7FC"/>
                </a:solidFill>
                <a:latin typeface="Aptos"/>
              </a:rPr>
              <a:t>Wrong answer</a:t>
            </a:r>
          </a:p>
        </p:txBody>
      </p:sp>
      <p:sp>
        <p:nvSpPr>
          <p:cNvPr id="8" name="TextBox 7"/>
          <p:cNvSpPr txBox="1"/>
          <p:nvPr/>
        </p:nvSpPr>
        <p:spPr>
          <a:xfrm>
            <a:off x="886968" y="2066543"/>
            <a:ext cx="4663440" cy="749808"/>
          </a:xfrm>
          <a:prstGeom prst="rect">
            <a:avLst/>
          </a:prstGeom>
          <a:noFill/>
        </p:spPr>
        <p:txBody>
          <a:bodyPr wrap="square">
            <a:spAutoFit/>
          </a:bodyPr>
          <a:lstStyle/>
          <a:p>
            <a:pPr algn="l"/>
            <a:r>
              <a:rPr sz="1150" b="0">
                <a:solidFill>
                  <a:srgbClr val="A5B2CA"/>
                </a:solidFill>
                <a:latin typeface="Aptos"/>
              </a:rPr>
              <a:t>The model may be inaccurate, irrelevant or unsupported.</a:t>
            </a:r>
          </a:p>
        </p:txBody>
      </p:sp>
      <p:sp>
        <p:nvSpPr>
          <p:cNvPr id="9" name="Rounded Rectangle 8"/>
          <p:cNvSpPr/>
          <p:nvPr/>
        </p:nvSpPr>
        <p:spPr>
          <a:xfrm>
            <a:off x="6217920" y="1554480"/>
            <a:ext cx="5029200" cy="13716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17920" y="1554480"/>
            <a:ext cx="50292" cy="137160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19088" y="1682495"/>
            <a:ext cx="4681728" cy="310896"/>
          </a:xfrm>
          <a:prstGeom prst="rect">
            <a:avLst/>
          </a:prstGeom>
          <a:noFill/>
        </p:spPr>
        <p:txBody>
          <a:bodyPr wrap="square">
            <a:spAutoFit/>
          </a:bodyPr>
          <a:lstStyle/>
          <a:p>
            <a:pPr algn="l"/>
            <a:r>
              <a:rPr sz="1600" b="1">
                <a:solidFill>
                  <a:srgbClr val="F5F7FC"/>
                </a:solidFill>
                <a:latin typeface="Aptos"/>
              </a:rPr>
              <a:t>Hidden steps</a:t>
            </a:r>
          </a:p>
        </p:txBody>
      </p:sp>
      <p:sp>
        <p:nvSpPr>
          <p:cNvPr id="12" name="TextBox 11"/>
          <p:cNvSpPr txBox="1"/>
          <p:nvPr/>
        </p:nvSpPr>
        <p:spPr>
          <a:xfrm>
            <a:off x="6419088" y="2066543"/>
            <a:ext cx="4663440" cy="749808"/>
          </a:xfrm>
          <a:prstGeom prst="rect">
            <a:avLst/>
          </a:prstGeom>
          <a:noFill/>
        </p:spPr>
        <p:txBody>
          <a:bodyPr wrap="square">
            <a:spAutoFit/>
          </a:bodyPr>
          <a:lstStyle/>
          <a:p>
            <a:pPr algn="l"/>
            <a:r>
              <a:rPr sz="1150" b="0">
                <a:solidFill>
                  <a:srgbClr val="A5B2CA"/>
                </a:solidFill>
                <a:latin typeface="Aptos"/>
              </a:rPr>
              <a:t>Retrieval, tools and multiple prompts may be involved.</a:t>
            </a:r>
          </a:p>
        </p:txBody>
      </p:sp>
      <p:sp>
        <p:nvSpPr>
          <p:cNvPr id="13" name="Rounded Rectangle 12"/>
          <p:cNvSpPr/>
          <p:nvPr/>
        </p:nvSpPr>
        <p:spPr>
          <a:xfrm>
            <a:off x="685800" y="3291839"/>
            <a:ext cx="5029200" cy="13716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85800" y="3291839"/>
            <a:ext cx="50292" cy="137160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6968" y="3419856"/>
            <a:ext cx="4681728" cy="310896"/>
          </a:xfrm>
          <a:prstGeom prst="rect">
            <a:avLst/>
          </a:prstGeom>
          <a:noFill/>
        </p:spPr>
        <p:txBody>
          <a:bodyPr wrap="square">
            <a:spAutoFit/>
          </a:bodyPr>
          <a:lstStyle/>
          <a:p>
            <a:pPr algn="l"/>
            <a:r>
              <a:rPr sz="1600" b="1">
                <a:solidFill>
                  <a:srgbClr val="F5F7FC"/>
                </a:solidFill>
                <a:latin typeface="Aptos"/>
              </a:rPr>
              <a:t>Changing outputs</a:t>
            </a:r>
          </a:p>
        </p:txBody>
      </p:sp>
      <p:sp>
        <p:nvSpPr>
          <p:cNvPr id="16" name="TextBox 15"/>
          <p:cNvSpPr txBox="1"/>
          <p:nvPr/>
        </p:nvSpPr>
        <p:spPr>
          <a:xfrm>
            <a:off x="886968" y="3803904"/>
            <a:ext cx="4663440" cy="749808"/>
          </a:xfrm>
          <a:prstGeom prst="rect">
            <a:avLst/>
          </a:prstGeom>
          <a:noFill/>
        </p:spPr>
        <p:txBody>
          <a:bodyPr wrap="square">
            <a:spAutoFit/>
          </a:bodyPr>
          <a:lstStyle/>
          <a:p>
            <a:pPr algn="l"/>
            <a:r>
              <a:rPr sz="1150" b="0">
                <a:solidFill>
                  <a:srgbClr val="A5B2CA"/>
                </a:solidFill>
                <a:latin typeface="Aptos"/>
              </a:rPr>
              <a:t>Different inputs can produce different responses.</a:t>
            </a:r>
          </a:p>
        </p:txBody>
      </p:sp>
      <p:sp>
        <p:nvSpPr>
          <p:cNvPr id="17" name="Rounded Rectangle 16"/>
          <p:cNvSpPr/>
          <p:nvPr/>
        </p:nvSpPr>
        <p:spPr>
          <a:xfrm>
            <a:off x="6217920" y="3291839"/>
            <a:ext cx="5029200" cy="13716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3291839"/>
            <a:ext cx="50292" cy="137160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19088" y="3419856"/>
            <a:ext cx="4681728" cy="310896"/>
          </a:xfrm>
          <a:prstGeom prst="rect">
            <a:avLst/>
          </a:prstGeom>
          <a:noFill/>
        </p:spPr>
        <p:txBody>
          <a:bodyPr wrap="square">
            <a:spAutoFit/>
          </a:bodyPr>
          <a:lstStyle/>
          <a:p>
            <a:pPr algn="l"/>
            <a:r>
              <a:rPr sz="1600" b="1">
                <a:solidFill>
                  <a:srgbClr val="F5F7FC"/>
                </a:solidFill>
                <a:latin typeface="Aptos"/>
              </a:rPr>
              <a:t>Hard to test</a:t>
            </a:r>
          </a:p>
        </p:txBody>
      </p:sp>
      <p:sp>
        <p:nvSpPr>
          <p:cNvPr id="20" name="TextBox 19"/>
          <p:cNvSpPr txBox="1"/>
          <p:nvPr/>
        </p:nvSpPr>
        <p:spPr>
          <a:xfrm>
            <a:off x="6419088" y="3803904"/>
            <a:ext cx="4663440" cy="749808"/>
          </a:xfrm>
          <a:prstGeom prst="rect">
            <a:avLst/>
          </a:prstGeom>
          <a:noFill/>
        </p:spPr>
        <p:txBody>
          <a:bodyPr wrap="square">
            <a:spAutoFit/>
          </a:bodyPr>
          <a:lstStyle/>
          <a:p>
            <a:pPr algn="l"/>
            <a:r>
              <a:rPr sz="1150" b="0">
                <a:solidFill>
                  <a:srgbClr val="A5B2CA"/>
                </a:solidFill>
                <a:latin typeface="Aptos"/>
              </a:rPr>
              <a:t>Manual checking does not scale to many examples.</a:t>
            </a:r>
          </a:p>
        </p:txBody>
      </p:sp>
      <p:sp>
        <p:nvSpPr>
          <p:cNvPr id="21" name="Rounded Rectangle 20"/>
          <p:cNvSpPr/>
          <p:nvPr/>
        </p:nvSpPr>
        <p:spPr>
          <a:xfrm>
            <a:off x="3977639" y="5074920"/>
            <a:ext cx="4114800" cy="6858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977639" y="5074920"/>
            <a:ext cx="50292" cy="685800"/>
          </a:xfrm>
          <a:prstGeom prst="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78807" y="5202936"/>
            <a:ext cx="3767328" cy="310896"/>
          </a:xfrm>
          <a:prstGeom prst="rect">
            <a:avLst/>
          </a:prstGeom>
          <a:noFill/>
        </p:spPr>
        <p:txBody>
          <a:bodyPr wrap="square">
            <a:spAutoFit/>
          </a:bodyPr>
          <a:lstStyle/>
          <a:p>
            <a:pPr algn="l"/>
            <a:r>
              <a:rPr sz="1200" b="1">
                <a:solidFill>
                  <a:srgbClr val="F5F7FC"/>
                </a:solidFill>
                <a:latin typeface="Aptos"/>
              </a:rPr>
              <a:t>BLACK BOX</a:t>
            </a:r>
          </a:p>
        </p:txBody>
      </p:sp>
      <p:sp>
        <p:nvSpPr>
          <p:cNvPr id="24" name="TextBox 23"/>
          <p:cNvSpPr txBox="1"/>
          <p:nvPr/>
        </p:nvSpPr>
        <p:spPr>
          <a:xfrm>
            <a:off x="4178807" y="5586983"/>
            <a:ext cx="3749039" cy="64007"/>
          </a:xfrm>
          <a:prstGeom prst="rect">
            <a:avLst/>
          </a:prstGeom>
          <a:noFill/>
        </p:spPr>
        <p:txBody>
          <a:bodyPr wrap="square">
            <a:spAutoFit/>
          </a:bodyPr>
          <a:lstStyle/>
          <a:p>
            <a:pPr algn="l"/>
            <a:r>
              <a:rPr sz="950" b="0">
                <a:solidFill>
                  <a:srgbClr val="A5B2CA"/>
                </a:solidFill>
                <a:latin typeface="Aptos"/>
              </a:rPr>
              <a:t>Question → ??? → Wrong answer</a:t>
            </a:r>
          </a:p>
        </p:txBody>
      </p:sp>
      <p:sp>
        <p:nvSpPr>
          <p:cNvPr id="25" name="TextBox 24"/>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What is LangSmith?</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A development platform for building, testing, debugging, evaluating and monitoring LLM applications.</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05</a:t>
            </a:r>
          </a:p>
        </p:txBody>
      </p:sp>
      <p:sp>
        <p:nvSpPr>
          <p:cNvPr id="5" name="Rounded Rectangle 4"/>
          <p:cNvSpPr/>
          <p:nvPr/>
        </p:nvSpPr>
        <p:spPr>
          <a:xfrm>
            <a:off x="685800" y="1554480"/>
            <a:ext cx="5074920" cy="36118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0292" cy="361188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682495"/>
            <a:ext cx="4727448" cy="310896"/>
          </a:xfrm>
          <a:prstGeom prst="rect">
            <a:avLst/>
          </a:prstGeom>
          <a:noFill/>
        </p:spPr>
        <p:txBody>
          <a:bodyPr wrap="square">
            <a:spAutoFit/>
          </a:bodyPr>
          <a:lstStyle/>
          <a:p>
            <a:pPr algn="l"/>
            <a:r>
              <a:rPr sz="1800" b="1">
                <a:solidFill>
                  <a:srgbClr val="F5F7FC"/>
                </a:solidFill>
                <a:latin typeface="Aptos"/>
              </a:rPr>
              <a:t>Simple definition</a:t>
            </a:r>
          </a:p>
        </p:txBody>
      </p:sp>
      <p:sp>
        <p:nvSpPr>
          <p:cNvPr id="8" name="TextBox 7"/>
          <p:cNvSpPr txBox="1"/>
          <p:nvPr/>
        </p:nvSpPr>
        <p:spPr>
          <a:xfrm>
            <a:off x="886968" y="2066543"/>
            <a:ext cx="4709159" cy="2990088"/>
          </a:xfrm>
          <a:prstGeom prst="rect">
            <a:avLst/>
          </a:prstGeom>
          <a:noFill/>
        </p:spPr>
        <p:txBody>
          <a:bodyPr wrap="square">
            <a:spAutoFit/>
          </a:bodyPr>
          <a:lstStyle/>
          <a:p>
            <a:pPr algn="l"/>
            <a:r>
              <a:rPr sz="1300" b="0">
                <a:solidFill>
                  <a:srgbClr val="A5B2CA"/>
                </a:solidFill>
                <a:latin typeface="Aptos"/>
              </a:rPr>
              <a:t>LangSmith gives developers visibility into LLM application runs. It helps them understand what happened, measure quality, find problems and improve the application.
It can work with LangChain and other/custom application stacks.</a:t>
            </a:r>
          </a:p>
        </p:txBody>
      </p:sp>
      <p:sp>
        <p:nvSpPr>
          <p:cNvPr id="9" name="Rounded Rectangle 8"/>
          <p:cNvSpPr/>
          <p:nvPr/>
        </p:nvSpPr>
        <p:spPr>
          <a:xfrm>
            <a:off x="6126480" y="1737360"/>
            <a:ext cx="2194560" cy="118872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0" y="1737360"/>
            <a:ext cx="50292" cy="118872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27648" y="1865376"/>
            <a:ext cx="1847088" cy="310896"/>
          </a:xfrm>
          <a:prstGeom prst="rect">
            <a:avLst/>
          </a:prstGeom>
          <a:noFill/>
        </p:spPr>
        <p:txBody>
          <a:bodyPr wrap="square">
            <a:spAutoFit/>
          </a:bodyPr>
          <a:lstStyle/>
          <a:p>
            <a:pPr algn="l"/>
            <a:r>
              <a:rPr sz="1400" b="1">
                <a:solidFill>
                  <a:srgbClr val="F5F7FC"/>
                </a:solidFill>
                <a:latin typeface="Aptos"/>
              </a:rPr>
              <a:t>TRACE</a:t>
            </a:r>
          </a:p>
        </p:txBody>
      </p:sp>
      <p:sp>
        <p:nvSpPr>
          <p:cNvPr id="12" name="TextBox 11"/>
          <p:cNvSpPr txBox="1"/>
          <p:nvPr/>
        </p:nvSpPr>
        <p:spPr>
          <a:xfrm>
            <a:off x="6327648" y="2249424"/>
            <a:ext cx="1828800" cy="566928"/>
          </a:xfrm>
          <a:prstGeom prst="rect">
            <a:avLst/>
          </a:prstGeom>
          <a:noFill/>
        </p:spPr>
        <p:txBody>
          <a:bodyPr wrap="square">
            <a:spAutoFit/>
          </a:bodyPr>
          <a:lstStyle/>
          <a:p>
            <a:pPr algn="l"/>
            <a:r>
              <a:rPr sz="1050" b="0">
                <a:solidFill>
                  <a:srgbClr val="A5B2CA"/>
                </a:solidFill>
                <a:latin typeface="Aptos"/>
              </a:rPr>
              <a:t>See steps</a:t>
            </a:r>
          </a:p>
        </p:txBody>
      </p:sp>
      <p:sp>
        <p:nvSpPr>
          <p:cNvPr id="13" name="Rounded Rectangle 12"/>
          <p:cNvSpPr/>
          <p:nvPr/>
        </p:nvSpPr>
        <p:spPr>
          <a:xfrm>
            <a:off x="8641080" y="1737360"/>
            <a:ext cx="2194560" cy="118872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641080" y="1737360"/>
            <a:ext cx="50292" cy="118872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842248" y="1865376"/>
            <a:ext cx="1847088" cy="310896"/>
          </a:xfrm>
          <a:prstGeom prst="rect">
            <a:avLst/>
          </a:prstGeom>
          <a:noFill/>
        </p:spPr>
        <p:txBody>
          <a:bodyPr wrap="square">
            <a:spAutoFit/>
          </a:bodyPr>
          <a:lstStyle/>
          <a:p>
            <a:pPr algn="l"/>
            <a:r>
              <a:rPr sz="1400" b="1">
                <a:solidFill>
                  <a:srgbClr val="F5F7FC"/>
                </a:solidFill>
                <a:latin typeface="Aptos"/>
              </a:rPr>
              <a:t>EVALUATE</a:t>
            </a:r>
          </a:p>
        </p:txBody>
      </p:sp>
      <p:sp>
        <p:nvSpPr>
          <p:cNvPr id="16" name="TextBox 15"/>
          <p:cNvSpPr txBox="1"/>
          <p:nvPr/>
        </p:nvSpPr>
        <p:spPr>
          <a:xfrm>
            <a:off x="8842248" y="2249424"/>
            <a:ext cx="1828800" cy="566928"/>
          </a:xfrm>
          <a:prstGeom prst="rect">
            <a:avLst/>
          </a:prstGeom>
          <a:noFill/>
        </p:spPr>
        <p:txBody>
          <a:bodyPr wrap="square">
            <a:spAutoFit/>
          </a:bodyPr>
          <a:lstStyle/>
          <a:p>
            <a:pPr algn="l"/>
            <a:r>
              <a:rPr sz="1050" b="0">
                <a:solidFill>
                  <a:srgbClr val="A5B2CA"/>
                </a:solidFill>
                <a:latin typeface="Aptos"/>
              </a:rPr>
              <a:t>Measure quality</a:t>
            </a:r>
          </a:p>
        </p:txBody>
      </p:sp>
      <p:sp>
        <p:nvSpPr>
          <p:cNvPr id="17" name="Rounded Rectangle 16"/>
          <p:cNvSpPr/>
          <p:nvPr/>
        </p:nvSpPr>
        <p:spPr>
          <a:xfrm>
            <a:off x="6126480" y="3337560"/>
            <a:ext cx="2194560" cy="118872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26480" y="3337560"/>
            <a:ext cx="50292" cy="1188720"/>
          </a:xfrm>
          <a:prstGeom prst="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27648" y="3465576"/>
            <a:ext cx="1847088" cy="310896"/>
          </a:xfrm>
          <a:prstGeom prst="rect">
            <a:avLst/>
          </a:prstGeom>
          <a:noFill/>
        </p:spPr>
        <p:txBody>
          <a:bodyPr wrap="square">
            <a:spAutoFit/>
          </a:bodyPr>
          <a:lstStyle/>
          <a:p>
            <a:pPr algn="l"/>
            <a:r>
              <a:rPr sz="1400" b="1">
                <a:solidFill>
                  <a:srgbClr val="F5F7FC"/>
                </a:solidFill>
                <a:latin typeface="Aptos"/>
              </a:rPr>
              <a:t>DEBUG</a:t>
            </a:r>
          </a:p>
        </p:txBody>
      </p:sp>
      <p:sp>
        <p:nvSpPr>
          <p:cNvPr id="20" name="TextBox 19"/>
          <p:cNvSpPr txBox="1"/>
          <p:nvPr/>
        </p:nvSpPr>
        <p:spPr>
          <a:xfrm>
            <a:off x="6327648" y="3849624"/>
            <a:ext cx="1828800" cy="566928"/>
          </a:xfrm>
          <a:prstGeom prst="rect">
            <a:avLst/>
          </a:prstGeom>
          <a:noFill/>
        </p:spPr>
        <p:txBody>
          <a:bodyPr wrap="square">
            <a:spAutoFit/>
          </a:bodyPr>
          <a:lstStyle/>
          <a:p>
            <a:pPr algn="l"/>
            <a:r>
              <a:rPr sz="1050" b="0">
                <a:solidFill>
                  <a:srgbClr val="A5B2CA"/>
                </a:solidFill>
                <a:latin typeface="Aptos"/>
              </a:rPr>
              <a:t>Find problems</a:t>
            </a:r>
          </a:p>
        </p:txBody>
      </p:sp>
      <p:sp>
        <p:nvSpPr>
          <p:cNvPr id="21" name="Rounded Rectangle 20"/>
          <p:cNvSpPr/>
          <p:nvPr/>
        </p:nvSpPr>
        <p:spPr>
          <a:xfrm>
            <a:off x="8641080" y="3337560"/>
            <a:ext cx="2194560" cy="118872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641080" y="3337560"/>
            <a:ext cx="50292" cy="118872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842248" y="3465576"/>
            <a:ext cx="1847088" cy="310896"/>
          </a:xfrm>
          <a:prstGeom prst="rect">
            <a:avLst/>
          </a:prstGeom>
          <a:noFill/>
        </p:spPr>
        <p:txBody>
          <a:bodyPr wrap="square">
            <a:spAutoFit/>
          </a:bodyPr>
          <a:lstStyle/>
          <a:p>
            <a:pPr algn="l"/>
            <a:r>
              <a:rPr sz="1400" b="1">
                <a:solidFill>
                  <a:srgbClr val="F5F7FC"/>
                </a:solidFill>
                <a:latin typeface="Aptos"/>
              </a:rPr>
              <a:t>IMPROVE</a:t>
            </a:r>
          </a:p>
        </p:txBody>
      </p:sp>
      <p:sp>
        <p:nvSpPr>
          <p:cNvPr id="24" name="TextBox 23"/>
          <p:cNvSpPr txBox="1"/>
          <p:nvPr/>
        </p:nvSpPr>
        <p:spPr>
          <a:xfrm>
            <a:off x="8842248" y="3849624"/>
            <a:ext cx="1828800" cy="566928"/>
          </a:xfrm>
          <a:prstGeom prst="rect">
            <a:avLst/>
          </a:prstGeom>
          <a:noFill/>
        </p:spPr>
        <p:txBody>
          <a:bodyPr wrap="square">
            <a:spAutoFit/>
          </a:bodyPr>
          <a:lstStyle/>
          <a:p>
            <a:pPr algn="l"/>
            <a:r>
              <a:rPr sz="1050" b="0">
                <a:solidFill>
                  <a:srgbClr val="A5B2CA"/>
                </a:solidFill>
                <a:latin typeface="Aptos"/>
              </a:rPr>
              <a:t>Iterate</a:t>
            </a:r>
          </a:p>
        </p:txBody>
      </p:sp>
      <p:sp>
        <p:nvSpPr>
          <p:cNvPr id="25" name="TextBox 24"/>
          <p:cNvSpPr txBox="1"/>
          <p:nvPr/>
        </p:nvSpPr>
        <p:spPr>
          <a:xfrm>
            <a:off x="6126480" y="5166360"/>
            <a:ext cx="5074920" cy="502920"/>
          </a:xfrm>
          <a:prstGeom prst="rect">
            <a:avLst/>
          </a:prstGeom>
          <a:noFill/>
        </p:spPr>
        <p:txBody>
          <a:bodyPr wrap="square">
            <a:spAutoFit/>
          </a:bodyPr>
          <a:lstStyle/>
          <a:p>
            <a:pPr algn="ctr"/>
            <a:r>
              <a:rPr sz="1550" b="1">
                <a:solidFill>
                  <a:srgbClr val="F5F7FC"/>
                </a:solidFill>
                <a:latin typeface="Aptos"/>
              </a:rPr>
              <a:t>Think of it as a visibility + testing layer around an LLM application.</a:t>
            </a:r>
          </a:p>
        </p:txBody>
      </p:sp>
      <p:sp>
        <p:nvSpPr>
          <p:cNvPr id="26" name="TextBox 25"/>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Why LangSmith is needed</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The goal is to replace guesswork with evidence.</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06</a:t>
            </a:r>
          </a:p>
        </p:txBody>
      </p:sp>
      <p:sp>
        <p:nvSpPr>
          <p:cNvPr id="5" name="Rounded Rectangle 4"/>
          <p:cNvSpPr/>
          <p:nvPr/>
        </p:nvSpPr>
        <p:spPr>
          <a:xfrm>
            <a:off x="685800" y="1554480"/>
            <a:ext cx="5074920" cy="33832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0292" cy="3383280"/>
          </a:xfrm>
          <a:prstGeom prst="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682495"/>
            <a:ext cx="4727448" cy="310896"/>
          </a:xfrm>
          <a:prstGeom prst="rect">
            <a:avLst/>
          </a:prstGeom>
          <a:noFill/>
        </p:spPr>
        <p:txBody>
          <a:bodyPr wrap="square">
            <a:spAutoFit/>
          </a:bodyPr>
          <a:lstStyle/>
          <a:p>
            <a:pPr algn="l"/>
            <a:r>
              <a:rPr sz="1800" b="1">
                <a:solidFill>
                  <a:srgbClr val="F5F7FC"/>
                </a:solidFill>
                <a:latin typeface="Aptos"/>
              </a:rPr>
              <a:t>WITHOUT LANGSMITH</a:t>
            </a:r>
          </a:p>
        </p:txBody>
      </p:sp>
      <p:sp>
        <p:nvSpPr>
          <p:cNvPr id="8" name="TextBox 7"/>
          <p:cNvSpPr txBox="1"/>
          <p:nvPr/>
        </p:nvSpPr>
        <p:spPr>
          <a:xfrm>
            <a:off x="886968" y="2066543"/>
            <a:ext cx="4709159" cy="2761488"/>
          </a:xfrm>
          <a:prstGeom prst="rect">
            <a:avLst/>
          </a:prstGeom>
          <a:noFill/>
        </p:spPr>
        <p:txBody>
          <a:bodyPr wrap="square">
            <a:spAutoFit/>
          </a:bodyPr>
          <a:lstStyle/>
          <a:p>
            <a:pPr algn="l"/>
            <a:r>
              <a:rPr sz="1300" b="0">
                <a:solidFill>
                  <a:srgbClr val="A5B2CA"/>
                </a:solidFill>
                <a:latin typeface="Aptos"/>
              </a:rPr>
              <a:t>Question → ❓ → Final answer
If the answer is wrong, the developer has to guess whether the prompt, retrieval, tool or model caused it.</a:t>
            </a:r>
          </a:p>
        </p:txBody>
      </p:sp>
      <p:sp>
        <p:nvSpPr>
          <p:cNvPr id="9" name="Rounded Rectangle 8"/>
          <p:cNvSpPr/>
          <p:nvPr/>
        </p:nvSpPr>
        <p:spPr>
          <a:xfrm>
            <a:off x="6172200" y="1554480"/>
            <a:ext cx="5074920" cy="33832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72200" y="1554480"/>
            <a:ext cx="50292" cy="338328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73368" y="1682495"/>
            <a:ext cx="4727448" cy="310896"/>
          </a:xfrm>
          <a:prstGeom prst="rect">
            <a:avLst/>
          </a:prstGeom>
          <a:noFill/>
        </p:spPr>
        <p:txBody>
          <a:bodyPr wrap="square">
            <a:spAutoFit/>
          </a:bodyPr>
          <a:lstStyle/>
          <a:p>
            <a:pPr algn="l"/>
            <a:r>
              <a:rPr sz="1800" b="1">
                <a:solidFill>
                  <a:srgbClr val="F5F7FC"/>
                </a:solidFill>
                <a:latin typeface="Aptos"/>
              </a:rPr>
              <a:t>WITH LANGSMITH</a:t>
            </a:r>
          </a:p>
        </p:txBody>
      </p:sp>
      <p:sp>
        <p:nvSpPr>
          <p:cNvPr id="12" name="TextBox 11"/>
          <p:cNvSpPr txBox="1"/>
          <p:nvPr/>
        </p:nvSpPr>
        <p:spPr>
          <a:xfrm>
            <a:off x="6373368" y="2066543"/>
            <a:ext cx="4709159" cy="2761488"/>
          </a:xfrm>
          <a:prstGeom prst="rect">
            <a:avLst/>
          </a:prstGeom>
          <a:noFill/>
        </p:spPr>
        <p:txBody>
          <a:bodyPr wrap="square">
            <a:spAutoFit/>
          </a:bodyPr>
          <a:lstStyle/>
          <a:p>
            <a:pPr algn="l"/>
            <a:r>
              <a:rPr sz="1300" b="0">
                <a:solidFill>
                  <a:srgbClr val="A5B2CA"/>
                </a:solidFill>
                <a:latin typeface="Aptos"/>
              </a:rPr>
              <a:t>Question → Prompt → Retrieval → LLM → Answer
The developer can inspect the run, evaluate the result and investigate the failing step.</a:t>
            </a:r>
          </a:p>
        </p:txBody>
      </p:sp>
      <p:sp>
        <p:nvSpPr>
          <p:cNvPr id="13" name="TextBox 12"/>
          <p:cNvSpPr txBox="1"/>
          <p:nvPr/>
        </p:nvSpPr>
        <p:spPr>
          <a:xfrm>
            <a:off x="914400" y="5257800"/>
            <a:ext cx="10332720" cy="411480"/>
          </a:xfrm>
          <a:prstGeom prst="rect">
            <a:avLst/>
          </a:prstGeom>
          <a:noFill/>
        </p:spPr>
        <p:txBody>
          <a:bodyPr wrap="square">
            <a:spAutoFit/>
          </a:bodyPr>
          <a:lstStyle/>
          <a:p>
            <a:pPr algn="ctr"/>
            <a:r>
              <a:rPr sz="1800" b="1">
                <a:solidFill>
                  <a:srgbClr val="F5F7FC"/>
                </a:solidFill>
                <a:latin typeface="Aptos"/>
              </a:rPr>
              <a:t>Problem → Trace → Evidence → Fix → Retest</a:t>
            </a:r>
          </a:p>
        </p:txBody>
      </p:sp>
      <p:sp>
        <p:nvSpPr>
          <p:cNvPr id="14" name="TextBox 13"/>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How LangSmith works</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A simple workflow: your application runs → LangSmith captures the run → you analyze and improve it.</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07</a:t>
            </a:r>
          </a:p>
        </p:txBody>
      </p:sp>
      <p:sp>
        <p:nvSpPr>
          <p:cNvPr id="5" name="Rounded Rectangle 4"/>
          <p:cNvSpPr/>
          <p:nvPr/>
        </p:nvSpPr>
        <p:spPr>
          <a:xfrm>
            <a:off x="1069848" y="1536192"/>
            <a:ext cx="411480" cy="310896"/>
          </a:xfrm>
          <a:prstGeom prst="round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9848" y="1577339"/>
            <a:ext cx="411480" cy="201168"/>
          </a:xfrm>
          <a:prstGeom prst="rect">
            <a:avLst/>
          </a:prstGeom>
          <a:noFill/>
        </p:spPr>
        <p:txBody>
          <a:bodyPr wrap="square">
            <a:spAutoFit/>
          </a:bodyPr>
          <a:lstStyle/>
          <a:p>
            <a:pPr algn="ctr"/>
            <a:r>
              <a:rPr sz="1000" b="1">
                <a:solidFill>
                  <a:srgbClr val="F5F7FC"/>
                </a:solidFill>
                <a:latin typeface="Aptos"/>
              </a:rPr>
              <a:t>1</a:t>
            </a:r>
          </a:p>
        </p:txBody>
      </p:sp>
      <p:sp>
        <p:nvSpPr>
          <p:cNvPr id="7" name="Rounded Rectangle 6"/>
          <p:cNvSpPr/>
          <p:nvPr/>
        </p:nvSpPr>
        <p:spPr>
          <a:xfrm>
            <a:off x="411480" y="1965960"/>
            <a:ext cx="196596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11480" y="1965960"/>
            <a:ext cx="50292" cy="114300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12648" y="2093976"/>
            <a:ext cx="1618488" cy="310896"/>
          </a:xfrm>
          <a:prstGeom prst="rect">
            <a:avLst/>
          </a:prstGeom>
          <a:noFill/>
        </p:spPr>
        <p:txBody>
          <a:bodyPr wrap="square">
            <a:spAutoFit/>
          </a:bodyPr>
          <a:lstStyle/>
          <a:p>
            <a:pPr algn="l"/>
            <a:r>
              <a:rPr sz="1150" b="1">
                <a:solidFill>
                  <a:srgbClr val="F5F7FC"/>
                </a:solidFill>
                <a:latin typeface="Aptos"/>
              </a:rPr>
              <a:t>USER</a:t>
            </a:r>
          </a:p>
        </p:txBody>
      </p:sp>
      <p:sp>
        <p:nvSpPr>
          <p:cNvPr id="10" name="TextBox 9"/>
          <p:cNvSpPr txBox="1"/>
          <p:nvPr/>
        </p:nvSpPr>
        <p:spPr>
          <a:xfrm>
            <a:off x="612648" y="2478024"/>
            <a:ext cx="1600200" cy="521207"/>
          </a:xfrm>
          <a:prstGeom prst="rect">
            <a:avLst/>
          </a:prstGeom>
          <a:noFill/>
        </p:spPr>
        <p:txBody>
          <a:bodyPr wrap="square">
            <a:spAutoFit/>
          </a:bodyPr>
          <a:lstStyle/>
          <a:p>
            <a:pPr algn="l"/>
            <a:r>
              <a:rPr sz="950" b="0">
                <a:solidFill>
                  <a:srgbClr val="A5B2CA"/>
                </a:solidFill>
                <a:latin typeface="Aptos"/>
              </a:rPr>
              <a:t>Question</a:t>
            </a:r>
          </a:p>
        </p:txBody>
      </p:sp>
      <p:cxnSp>
        <p:nvCxnSpPr>
          <p:cNvPr id="11" name="Connector 10"/>
          <p:cNvCxnSpPr/>
          <p:nvPr/>
        </p:nvCxnSpPr>
        <p:spPr>
          <a:xfrm>
            <a:off x="2395728" y="2542032"/>
            <a:ext cx="274320" cy="0"/>
          </a:xfrm>
          <a:prstGeom prst="line">
            <a:avLst/>
          </a:prstGeom>
          <a:ln w="25400">
            <a:solidFill>
              <a:srgbClr val="4D9AFF"/>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1568" y="1536192"/>
            <a:ext cx="411480"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01568" y="1577339"/>
            <a:ext cx="411480" cy="201168"/>
          </a:xfrm>
          <a:prstGeom prst="rect">
            <a:avLst/>
          </a:prstGeom>
          <a:noFill/>
        </p:spPr>
        <p:txBody>
          <a:bodyPr wrap="square">
            <a:spAutoFit/>
          </a:bodyPr>
          <a:lstStyle/>
          <a:p>
            <a:pPr algn="ctr"/>
            <a:r>
              <a:rPr sz="1000" b="1">
                <a:solidFill>
                  <a:srgbClr val="F5F7FC"/>
                </a:solidFill>
                <a:latin typeface="Aptos"/>
              </a:rPr>
              <a:t>2</a:t>
            </a:r>
          </a:p>
        </p:txBody>
      </p:sp>
      <p:sp>
        <p:nvSpPr>
          <p:cNvPr id="14" name="Rounded Rectangle 13"/>
          <p:cNvSpPr/>
          <p:nvPr/>
        </p:nvSpPr>
        <p:spPr>
          <a:xfrm>
            <a:off x="2743200" y="1965960"/>
            <a:ext cx="196596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743200" y="1965960"/>
            <a:ext cx="50292" cy="114300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944368" y="2093976"/>
            <a:ext cx="1618488" cy="310896"/>
          </a:xfrm>
          <a:prstGeom prst="rect">
            <a:avLst/>
          </a:prstGeom>
          <a:noFill/>
        </p:spPr>
        <p:txBody>
          <a:bodyPr wrap="square">
            <a:spAutoFit/>
          </a:bodyPr>
          <a:lstStyle/>
          <a:p>
            <a:pPr algn="l"/>
            <a:r>
              <a:rPr sz="1150" b="1">
                <a:solidFill>
                  <a:srgbClr val="F5F7FC"/>
                </a:solidFill>
                <a:latin typeface="Aptos"/>
              </a:rPr>
              <a:t>APP</a:t>
            </a:r>
          </a:p>
        </p:txBody>
      </p:sp>
      <p:sp>
        <p:nvSpPr>
          <p:cNvPr id="17" name="TextBox 16"/>
          <p:cNvSpPr txBox="1"/>
          <p:nvPr/>
        </p:nvSpPr>
        <p:spPr>
          <a:xfrm>
            <a:off x="2944368" y="2478024"/>
            <a:ext cx="1600200" cy="521207"/>
          </a:xfrm>
          <a:prstGeom prst="rect">
            <a:avLst/>
          </a:prstGeom>
          <a:noFill/>
        </p:spPr>
        <p:txBody>
          <a:bodyPr wrap="square">
            <a:spAutoFit/>
          </a:bodyPr>
          <a:lstStyle/>
          <a:p>
            <a:pPr algn="l"/>
            <a:r>
              <a:rPr sz="950" b="0">
                <a:solidFill>
                  <a:srgbClr val="A5B2CA"/>
                </a:solidFill>
                <a:latin typeface="Aptos"/>
              </a:rPr>
              <a:t>Prompt + logic</a:t>
            </a:r>
          </a:p>
        </p:txBody>
      </p:sp>
      <p:cxnSp>
        <p:nvCxnSpPr>
          <p:cNvPr id="18" name="Connector 17"/>
          <p:cNvCxnSpPr/>
          <p:nvPr/>
        </p:nvCxnSpPr>
        <p:spPr>
          <a:xfrm>
            <a:off x="4727448" y="2542032"/>
            <a:ext cx="274320" cy="0"/>
          </a:xfrm>
          <a:prstGeom prst="line">
            <a:avLst/>
          </a:prstGeom>
          <a:ln w="25400">
            <a:solidFill>
              <a:srgbClr val="895EF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733288" y="1536192"/>
            <a:ext cx="411480" cy="310896"/>
          </a:xfrm>
          <a:prstGeom prst="round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733288" y="1577339"/>
            <a:ext cx="411480" cy="201168"/>
          </a:xfrm>
          <a:prstGeom prst="rect">
            <a:avLst/>
          </a:prstGeom>
          <a:noFill/>
        </p:spPr>
        <p:txBody>
          <a:bodyPr wrap="square">
            <a:spAutoFit/>
          </a:bodyPr>
          <a:lstStyle/>
          <a:p>
            <a:pPr algn="ctr"/>
            <a:r>
              <a:rPr sz="1000" b="1">
                <a:solidFill>
                  <a:srgbClr val="F5F7FC"/>
                </a:solidFill>
                <a:latin typeface="Aptos"/>
              </a:rPr>
              <a:t>3</a:t>
            </a:r>
          </a:p>
        </p:txBody>
      </p:sp>
      <p:sp>
        <p:nvSpPr>
          <p:cNvPr id="21" name="Rounded Rectangle 20"/>
          <p:cNvSpPr/>
          <p:nvPr/>
        </p:nvSpPr>
        <p:spPr>
          <a:xfrm>
            <a:off x="5074920" y="1965960"/>
            <a:ext cx="196596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074920" y="1965960"/>
            <a:ext cx="50292" cy="114300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76088" y="2093976"/>
            <a:ext cx="1618488" cy="310896"/>
          </a:xfrm>
          <a:prstGeom prst="rect">
            <a:avLst/>
          </a:prstGeom>
          <a:noFill/>
        </p:spPr>
        <p:txBody>
          <a:bodyPr wrap="square">
            <a:spAutoFit/>
          </a:bodyPr>
          <a:lstStyle/>
          <a:p>
            <a:pPr algn="l"/>
            <a:r>
              <a:rPr sz="1150" b="1">
                <a:solidFill>
                  <a:srgbClr val="F5F7FC"/>
                </a:solidFill>
                <a:latin typeface="Aptos"/>
              </a:rPr>
              <a:t>RETRIEVER / TOOL</a:t>
            </a:r>
          </a:p>
        </p:txBody>
      </p:sp>
      <p:sp>
        <p:nvSpPr>
          <p:cNvPr id="24" name="TextBox 23"/>
          <p:cNvSpPr txBox="1"/>
          <p:nvPr/>
        </p:nvSpPr>
        <p:spPr>
          <a:xfrm>
            <a:off x="5276088" y="2478024"/>
            <a:ext cx="1600200" cy="521207"/>
          </a:xfrm>
          <a:prstGeom prst="rect">
            <a:avLst/>
          </a:prstGeom>
          <a:noFill/>
        </p:spPr>
        <p:txBody>
          <a:bodyPr wrap="square">
            <a:spAutoFit/>
          </a:bodyPr>
          <a:lstStyle/>
          <a:p>
            <a:pPr algn="l"/>
            <a:r>
              <a:rPr sz="950" b="0">
                <a:solidFill>
                  <a:srgbClr val="A5B2CA"/>
                </a:solidFill>
                <a:latin typeface="Aptos"/>
              </a:rPr>
              <a:t>Context / action</a:t>
            </a:r>
          </a:p>
        </p:txBody>
      </p:sp>
      <p:cxnSp>
        <p:nvCxnSpPr>
          <p:cNvPr id="25" name="Connector 24"/>
          <p:cNvCxnSpPr/>
          <p:nvPr/>
        </p:nvCxnSpPr>
        <p:spPr>
          <a:xfrm>
            <a:off x="7059168" y="2542032"/>
            <a:ext cx="274320" cy="0"/>
          </a:xfrm>
          <a:prstGeom prst="line">
            <a:avLst/>
          </a:prstGeom>
          <a:ln w="25400">
            <a:solidFill>
              <a:srgbClr val="41D28F"/>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065008" y="1536192"/>
            <a:ext cx="411480" cy="310896"/>
          </a:xfrm>
          <a:prstGeom prst="round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065008" y="1577339"/>
            <a:ext cx="411480" cy="201168"/>
          </a:xfrm>
          <a:prstGeom prst="rect">
            <a:avLst/>
          </a:prstGeom>
          <a:noFill/>
        </p:spPr>
        <p:txBody>
          <a:bodyPr wrap="square">
            <a:spAutoFit/>
          </a:bodyPr>
          <a:lstStyle/>
          <a:p>
            <a:pPr algn="ctr"/>
            <a:r>
              <a:rPr sz="1000" b="1">
                <a:solidFill>
                  <a:srgbClr val="F5F7FC"/>
                </a:solidFill>
                <a:latin typeface="Aptos"/>
              </a:rPr>
              <a:t>4</a:t>
            </a:r>
          </a:p>
        </p:txBody>
      </p:sp>
      <p:sp>
        <p:nvSpPr>
          <p:cNvPr id="28" name="Rounded Rectangle 27"/>
          <p:cNvSpPr/>
          <p:nvPr/>
        </p:nvSpPr>
        <p:spPr>
          <a:xfrm>
            <a:off x="7406640" y="1965960"/>
            <a:ext cx="196596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406640" y="1965960"/>
            <a:ext cx="50292" cy="114300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607808" y="2093976"/>
            <a:ext cx="1618488" cy="310896"/>
          </a:xfrm>
          <a:prstGeom prst="rect">
            <a:avLst/>
          </a:prstGeom>
          <a:noFill/>
        </p:spPr>
        <p:txBody>
          <a:bodyPr wrap="square">
            <a:spAutoFit/>
          </a:bodyPr>
          <a:lstStyle/>
          <a:p>
            <a:pPr algn="l"/>
            <a:r>
              <a:rPr sz="1150" b="1">
                <a:solidFill>
                  <a:srgbClr val="F5F7FC"/>
                </a:solidFill>
                <a:latin typeface="Aptos"/>
              </a:rPr>
              <a:t>LLM</a:t>
            </a:r>
          </a:p>
        </p:txBody>
      </p:sp>
      <p:sp>
        <p:nvSpPr>
          <p:cNvPr id="31" name="TextBox 30"/>
          <p:cNvSpPr txBox="1"/>
          <p:nvPr/>
        </p:nvSpPr>
        <p:spPr>
          <a:xfrm>
            <a:off x="7607808" y="2478024"/>
            <a:ext cx="1600200" cy="521207"/>
          </a:xfrm>
          <a:prstGeom prst="rect">
            <a:avLst/>
          </a:prstGeom>
          <a:noFill/>
        </p:spPr>
        <p:txBody>
          <a:bodyPr wrap="square">
            <a:spAutoFit/>
          </a:bodyPr>
          <a:lstStyle/>
          <a:p>
            <a:pPr algn="l"/>
            <a:r>
              <a:rPr sz="950" b="0">
                <a:solidFill>
                  <a:srgbClr val="A5B2CA"/>
                </a:solidFill>
                <a:latin typeface="Aptos"/>
              </a:rPr>
              <a:t>Generation</a:t>
            </a:r>
          </a:p>
        </p:txBody>
      </p:sp>
      <p:cxnSp>
        <p:nvCxnSpPr>
          <p:cNvPr id="32" name="Connector 31"/>
          <p:cNvCxnSpPr/>
          <p:nvPr/>
        </p:nvCxnSpPr>
        <p:spPr>
          <a:xfrm>
            <a:off x="9390888" y="2542032"/>
            <a:ext cx="274320" cy="0"/>
          </a:xfrm>
          <a:prstGeom prst="line">
            <a:avLst/>
          </a:prstGeom>
          <a:ln w="25400">
            <a:solidFill>
              <a:srgbClr val="FFAE44"/>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96728" y="1536192"/>
            <a:ext cx="411480" cy="310896"/>
          </a:xfrm>
          <a:prstGeom prst="roundRect">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396728" y="1577339"/>
            <a:ext cx="411480" cy="201168"/>
          </a:xfrm>
          <a:prstGeom prst="rect">
            <a:avLst/>
          </a:prstGeom>
          <a:noFill/>
        </p:spPr>
        <p:txBody>
          <a:bodyPr wrap="square">
            <a:spAutoFit/>
          </a:bodyPr>
          <a:lstStyle/>
          <a:p>
            <a:pPr algn="ctr"/>
            <a:r>
              <a:rPr sz="1000" b="1">
                <a:solidFill>
                  <a:srgbClr val="F5F7FC"/>
                </a:solidFill>
                <a:latin typeface="Aptos"/>
              </a:rPr>
              <a:t>5</a:t>
            </a:r>
          </a:p>
        </p:txBody>
      </p:sp>
      <p:sp>
        <p:nvSpPr>
          <p:cNvPr id="35" name="Rounded Rectangle 34"/>
          <p:cNvSpPr/>
          <p:nvPr/>
        </p:nvSpPr>
        <p:spPr>
          <a:xfrm>
            <a:off x="9738359" y="1965960"/>
            <a:ext cx="196596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9738359" y="1965960"/>
            <a:ext cx="50292" cy="1143000"/>
          </a:xfrm>
          <a:prstGeom prst="rect">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939528" y="2093976"/>
            <a:ext cx="1618488" cy="310896"/>
          </a:xfrm>
          <a:prstGeom prst="rect">
            <a:avLst/>
          </a:prstGeom>
          <a:noFill/>
        </p:spPr>
        <p:txBody>
          <a:bodyPr wrap="square">
            <a:spAutoFit/>
          </a:bodyPr>
          <a:lstStyle/>
          <a:p>
            <a:pPr algn="l"/>
            <a:r>
              <a:rPr sz="1150" b="1">
                <a:solidFill>
                  <a:srgbClr val="F5F7FC"/>
                </a:solidFill>
                <a:latin typeface="Aptos"/>
              </a:rPr>
              <a:t>ANSWER</a:t>
            </a:r>
          </a:p>
        </p:txBody>
      </p:sp>
      <p:sp>
        <p:nvSpPr>
          <p:cNvPr id="38" name="TextBox 37"/>
          <p:cNvSpPr txBox="1"/>
          <p:nvPr/>
        </p:nvSpPr>
        <p:spPr>
          <a:xfrm>
            <a:off x="9939528" y="2478024"/>
            <a:ext cx="1600200" cy="521207"/>
          </a:xfrm>
          <a:prstGeom prst="rect">
            <a:avLst/>
          </a:prstGeom>
          <a:noFill/>
        </p:spPr>
        <p:txBody>
          <a:bodyPr wrap="square">
            <a:spAutoFit/>
          </a:bodyPr>
          <a:lstStyle/>
          <a:p>
            <a:pPr algn="l"/>
            <a:r>
              <a:rPr sz="950" b="0">
                <a:solidFill>
                  <a:srgbClr val="A5B2CA"/>
                </a:solidFill>
                <a:latin typeface="Aptos"/>
              </a:rPr>
              <a:t>Response</a:t>
            </a:r>
          </a:p>
        </p:txBody>
      </p:sp>
      <p:sp>
        <p:nvSpPr>
          <p:cNvPr id="39" name="Rounded Rectangle 38"/>
          <p:cNvSpPr/>
          <p:nvPr/>
        </p:nvSpPr>
        <p:spPr>
          <a:xfrm>
            <a:off x="1828800" y="3840480"/>
            <a:ext cx="8549640" cy="10972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1828800" y="3840480"/>
            <a:ext cx="50292" cy="109728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2029968" y="3968496"/>
            <a:ext cx="8202167" cy="310896"/>
          </a:xfrm>
          <a:prstGeom prst="rect">
            <a:avLst/>
          </a:prstGeom>
          <a:noFill/>
        </p:spPr>
        <p:txBody>
          <a:bodyPr wrap="square">
            <a:spAutoFit/>
          </a:bodyPr>
          <a:lstStyle/>
          <a:p>
            <a:pPr algn="l"/>
            <a:r>
              <a:rPr sz="1700" b="1">
                <a:solidFill>
                  <a:srgbClr val="F5F7FC"/>
                </a:solidFill>
                <a:latin typeface="Aptos"/>
              </a:rPr>
              <a:t>LANGSMITH</a:t>
            </a:r>
          </a:p>
        </p:txBody>
      </p:sp>
      <p:sp>
        <p:nvSpPr>
          <p:cNvPr id="42" name="TextBox 41"/>
          <p:cNvSpPr txBox="1"/>
          <p:nvPr/>
        </p:nvSpPr>
        <p:spPr>
          <a:xfrm>
            <a:off x="2029968" y="4352544"/>
            <a:ext cx="8183879" cy="475487"/>
          </a:xfrm>
          <a:prstGeom prst="rect">
            <a:avLst/>
          </a:prstGeom>
          <a:noFill/>
        </p:spPr>
        <p:txBody>
          <a:bodyPr wrap="square">
            <a:spAutoFit/>
          </a:bodyPr>
          <a:lstStyle/>
          <a:p>
            <a:pPr algn="l"/>
            <a:r>
              <a:rPr sz="1200" b="0">
                <a:solidFill>
                  <a:srgbClr val="A5B2CA"/>
                </a:solidFill>
                <a:latin typeface="Aptos"/>
              </a:rPr>
              <a:t>Captures traces → lets you inspect steps → run evaluations → compare versions → monitor behavior</a:t>
            </a:r>
          </a:p>
        </p:txBody>
      </p:sp>
      <p:sp>
        <p:nvSpPr>
          <p:cNvPr id="43" name="Rounded Rectangle 42"/>
          <p:cNvSpPr/>
          <p:nvPr/>
        </p:nvSpPr>
        <p:spPr>
          <a:xfrm>
            <a:off x="2743200" y="5349240"/>
            <a:ext cx="1143000" cy="310896"/>
          </a:xfrm>
          <a:prstGeom prst="round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2743200" y="5390388"/>
            <a:ext cx="1143000" cy="201168"/>
          </a:xfrm>
          <a:prstGeom prst="rect">
            <a:avLst/>
          </a:prstGeom>
          <a:noFill/>
        </p:spPr>
        <p:txBody>
          <a:bodyPr wrap="square">
            <a:spAutoFit/>
          </a:bodyPr>
          <a:lstStyle/>
          <a:p>
            <a:pPr algn="ctr"/>
            <a:r>
              <a:rPr sz="950" b="1">
                <a:solidFill>
                  <a:srgbClr val="F5F7FC"/>
                </a:solidFill>
                <a:latin typeface="Aptos"/>
              </a:rPr>
              <a:t>TRACE</a:t>
            </a:r>
          </a:p>
        </p:txBody>
      </p:sp>
      <p:sp>
        <p:nvSpPr>
          <p:cNvPr id="45" name="Rounded Rectangle 44"/>
          <p:cNvSpPr/>
          <p:nvPr/>
        </p:nvSpPr>
        <p:spPr>
          <a:xfrm>
            <a:off x="4114800" y="5349240"/>
            <a:ext cx="1417320" cy="310896"/>
          </a:xfrm>
          <a:prstGeom prst="round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114800" y="5390388"/>
            <a:ext cx="1417320" cy="201168"/>
          </a:xfrm>
          <a:prstGeom prst="rect">
            <a:avLst/>
          </a:prstGeom>
          <a:noFill/>
        </p:spPr>
        <p:txBody>
          <a:bodyPr wrap="square">
            <a:spAutoFit/>
          </a:bodyPr>
          <a:lstStyle/>
          <a:p>
            <a:pPr algn="ctr"/>
            <a:r>
              <a:rPr sz="950" b="1">
                <a:solidFill>
                  <a:srgbClr val="F5F7FC"/>
                </a:solidFill>
                <a:latin typeface="Aptos"/>
              </a:rPr>
              <a:t>EVALUATE</a:t>
            </a:r>
          </a:p>
        </p:txBody>
      </p:sp>
      <p:sp>
        <p:nvSpPr>
          <p:cNvPr id="47" name="Rounded Rectangle 46"/>
          <p:cNvSpPr/>
          <p:nvPr/>
        </p:nvSpPr>
        <p:spPr>
          <a:xfrm>
            <a:off x="5760720" y="5349240"/>
            <a:ext cx="1143000" cy="310896"/>
          </a:xfrm>
          <a:prstGeom prst="round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760720" y="5390388"/>
            <a:ext cx="1143000" cy="201168"/>
          </a:xfrm>
          <a:prstGeom prst="rect">
            <a:avLst/>
          </a:prstGeom>
          <a:noFill/>
        </p:spPr>
        <p:txBody>
          <a:bodyPr wrap="square">
            <a:spAutoFit/>
          </a:bodyPr>
          <a:lstStyle/>
          <a:p>
            <a:pPr algn="ctr"/>
            <a:r>
              <a:rPr sz="950" b="1">
                <a:solidFill>
                  <a:srgbClr val="F5F7FC"/>
                </a:solidFill>
                <a:latin typeface="Aptos"/>
              </a:rPr>
              <a:t>DEBUG</a:t>
            </a:r>
          </a:p>
        </p:txBody>
      </p:sp>
      <p:sp>
        <p:nvSpPr>
          <p:cNvPr id="49" name="Rounded Rectangle 48"/>
          <p:cNvSpPr/>
          <p:nvPr/>
        </p:nvSpPr>
        <p:spPr>
          <a:xfrm>
            <a:off x="7132320" y="5349240"/>
            <a:ext cx="1325880"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7132320" y="5390388"/>
            <a:ext cx="1325880" cy="201168"/>
          </a:xfrm>
          <a:prstGeom prst="rect">
            <a:avLst/>
          </a:prstGeom>
          <a:noFill/>
        </p:spPr>
        <p:txBody>
          <a:bodyPr wrap="square">
            <a:spAutoFit/>
          </a:bodyPr>
          <a:lstStyle/>
          <a:p>
            <a:pPr algn="ctr"/>
            <a:r>
              <a:rPr sz="950" b="1">
                <a:solidFill>
                  <a:srgbClr val="F5F7FC"/>
                </a:solidFill>
                <a:latin typeface="Aptos"/>
              </a:rPr>
              <a:t>IMPROVE</a:t>
            </a:r>
          </a:p>
        </p:txBody>
      </p:sp>
      <p:sp>
        <p:nvSpPr>
          <p:cNvPr id="51" name="TextBox 50"/>
          <p:cNvSpPr txBox="1"/>
          <p:nvPr/>
        </p:nvSpPr>
        <p:spPr>
          <a:xfrm>
            <a:off x="822960" y="5989320"/>
            <a:ext cx="10515600" cy="320040"/>
          </a:xfrm>
          <a:prstGeom prst="rect">
            <a:avLst/>
          </a:prstGeom>
          <a:noFill/>
        </p:spPr>
        <p:txBody>
          <a:bodyPr wrap="square">
            <a:spAutoFit/>
          </a:bodyPr>
          <a:lstStyle/>
          <a:p>
            <a:pPr algn="ctr"/>
            <a:r>
              <a:rPr sz="1150" b="1">
                <a:solidFill>
                  <a:srgbClr val="A5B2CA"/>
                </a:solidFill>
                <a:latin typeface="Aptos"/>
              </a:rPr>
              <a:t>Key idea: LangSmith observes and evaluates the application; it does not replace the LLM.</a:t>
            </a:r>
          </a:p>
        </p:txBody>
      </p:sp>
      <p:sp>
        <p:nvSpPr>
          <p:cNvPr id="52" name="TextBox 51"/>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dirty="0">
                <a:solidFill>
                  <a:srgbClr val="F5F7FC"/>
                </a:solidFill>
                <a:latin typeface="Aptos"/>
              </a:rPr>
              <a:t>Tracing</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Tracing shows the sequence of operations inside one request.</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08</a:t>
            </a:r>
          </a:p>
        </p:txBody>
      </p:sp>
      <p:sp>
        <p:nvSpPr>
          <p:cNvPr id="5" name="Rounded Rectangle 4"/>
          <p:cNvSpPr/>
          <p:nvPr/>
        </p:nvSpPr>
        <p:spPr>
          <a:xfrm>
            <a:off x="640080" y="1508760"/>
            <a:ext cx="4480560" cy="416052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508760"/>
            <a:ext cx="50292" cy="416052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636776"/>
            <a:ext cx="4133088" cy="310896"/>
          </a:xfrm>
          <a:prstGeom prst="rect">
            <a:avLst/>
          </a:prstGeom>
          <a:noFill/>
        </p:spPr>
        <p:txBody>
          <a:bodyPr wrap="square">
            <a:spAutoFit/>
          </a:bodyPr>
          <a:lstStyle/>
          <a:p>
            <a:pPr algn="l"/>
            <a:r>
              <a:rPr sz="1650" b="1">
                <a:solidFill>
                  <a:srgbClr val="F5F7FC"/>
                </a:solidFill>
                <a:latin typeface="Aptos"/>
              </a:rPr>
              <a:t>Theory</a:t>
            </a:r>
          </a:p>
        </p:txBody>
      </p:sp>
      <p:sp>
        <p:nvSpPr>
          <p:cNvPr id="8" name="TextBox 7"/>
          <p:cNvSpPr txBox="1"/>
          <p:nvPr/>
        </p:nvSpPr>
        <p:spPr>
          <a:xfrm>
            <a:off x="841247" y="2020824"/>
            <a:ext cx="4114800" cy="3538727"/>
          </a:xfrm>
          <a:prstGeom prst="rect">
            <a:avLst/>
          </a:prstGeom>
          <a:noFill/>
        </p:spPr>
        <p:txBody>
          <a:bodyPr wrap="square">
            <a:spAutoFit/>
          </a:bodyPr>
          <a:lstStyle/>
          <a:p>
            <a:pPr algn="l"/>
            <a:r>
              <a:rPr sz="1180" b="0">
                <a:solidFill>
                  <a:srgbClr val="A5B2CA"/>
                </a:solidFill>
                <a:latin typeface="Aptos"/>
              </a:rPr>
              <a:t>• A trace is a record of an application run.
• It can show inputs, outputs and model calls.
• Retrieval, tools and nested steps can be inspected.
• Timing, metadata and errors help locate bottlenecks.
• Developers can compare a good run with a bad run.</a:t>
            </a:r>
          </a:p>
        </p:txBody>
      </p:sp>
      <p:sp>
        <p:nvSpPr>
          <p:cNvPr id="9" name="TextBox 8"/>
          <p:cNvSpPr txBox="1"/>
          <p:nvPr/>
        </p:nvSpPr>
        <p:spPr>
          <a:xfrm>
            <a:off x="5486400" y="1481328"/>
            <a:ext cx="5303520" cy="274320"/>
          </a:xfrm>
          <a:prstGeom prst="rect">
            <a:avLst/>
          </a:prstGeom>
          <a:noFill/>
        </p:spPr>
        <p:txBody>
          <a:bodyPr wrap="square">
            <a:spAutoFit/>
          </a:bodyPr>
          <a:lstStyle/>
          <a:p>
            <a:pPr algn="l"/>
            <a:r>
              <a:rPr sz="1200" b="1">
                <a:solidFill>
                  <a:srgbClr val="4D9AFF"/>
                </a:solidFill>
                <a:latin typeface="Aptos"/>
              </a:rPr>
              <a:t>PRACTICAL EXAMPLE: return-policy chatbot</a:t>
            </a:r>
          </a:p>
        </p:txBody>
      </p:sp>
      <p:sp>
        <p:nvSpPr>
          <p:cNvPr id="10" name="Rounded Rectangle 9"/>
          <p:cNvSpPr/>
          <p:nvPr/>
        </p:nvSpPr>
        <p:spPr>
          <a:xfrm>
            <a:off x="5486400" y="1874519"/>
            <a:ext cx="5486400" cy="56692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0" y="1874519"/>
            <a:ext cx="50292" cy="566928"/>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87568" y="2002536"/>
            <a:ext cx="5138928" cy="310896"/>
          </a:xfrm>
          <a:prstGeom prst="rect">
            <a:avLst/>
          </a:prstGeom>
          <a:noFill/>
        </p:spPr>
        <p:txBody>
          <a:bodyPr wrap="square">
            <a:spAutoFit/>
          </a:bodyPr>
          <a:lstStyle/>
          <a:p>
            <a:pPr algn="l"/>
            <a:r>
              <a:rPr sz="1050" b="1">
                <a:solidFill>
                  <a:srgbClr val="F5F7FC"/>
                </a:solidFill>
                <a:latin typeface="Aptos"/>
              </a:rPr>
              <a:t>Customer</a:t>
            </a:r>
          </a:p>
        </p:txBody>
      </p:sp>
      <p:sp>
        <p:nvSpPr>
          <p:cNvPr id="13" name="TextBox 12"/>
          <p:cNvSpPr txBox="1"/>
          <p:nvPr/>
        </p:nvSpPr>
        <p:spPr>
          <a:xfrm>
            <a:off x="5687568" y="2386584"/>
            <a:ext cx="5120640" cy="0"/>
          </a:xfrm>
          <a:prstGeom prst="rect">
            <a:avLst/>
          </a:prstGeom>
          <a:noFill/>
        </p:spPr>
        <p:txBody>
          <a:bodyPr wrap="square">
            <a:spAutoFit/>
          </a:bodyPr>
          <a:lstStyle/>
          <a:p>
            <a:pPr algn="l"/>
            <a:r>
              <a:rPr sz="880" b="0">
                <a:solidFill>
                  <a:srgbClr val="A5B2CA"/>
                </a:solidFill>
                <a:latin typeface="Aptos"/>
              </a:rPr>
              <a:t>“Can I return a laptop after 20 days?”</a:t>
            </a:r>
          </a:p>
        </p:txBody>
      </p:sp>
      <p:cxnSp>
        <p:nvCxnSpPr>
          <p:cNvPr id="14" name="Connector 13"/>
          <p:cNvCxnSpPr/>
          <p:nvPr/>
        </p:nvCxnSpPr>
        <p:spPr>
          <a:xfrm>
            <a:off x="8183879" y="2459736"/>
            <a:ext cx="0" cy="100584"/>
          </a:xfrm>
          <a:prstGeom prst="line">
            <a:avLst/>
          </a:prstGeom>
          <a:ln w="15240">
            <a:solidFill>
              <a:srgbClr val="4D9AF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486400" y="2587752"/>
            <a:ext cx="5486400" cy="56692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0" y="2587752"/>
            <a:ext cx="50292" cy="566928"/>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87568" y="2715768"/>
            <a:ext cx="5138928" cy="310896"/>
          </a:xfrm>
          <a:prstGeom prst="rect">
            <a:avLst/>
          </a:prstGeom>
          <a:noFill/>
        </p:spPr>
        <p:txBody>
          <a:bodyPr wrap="square">
            <a:spAutoFit/>
          </a:bodyPr>
          <a:lstStyle/>
          <a:p>
            <a:pPr algn="l"/>
            <a:r>
              <a:rPr sz="1050" b="1">
                <a:solidFill>
                  <a:srgbClr val="F5F7FC"/>
                </a:solidFill>
                <a:latin typeface="Aptos"/>
              </a:rPr>
              <a:t>Prompt</a:t>
            </a:r>
          </a:p>
        </p:txBody>
      </p:sp>
      <p:sp>
        <p:nvSpPr>
          <p:cNvPr id="18" name="TextBox 17"/>
          <p:cNvSpPr txBox="1"/>
          <p:nvPr/>
        </p:nvSpPr>
        <p:spPr>
          <a:xfrm>
            <a:off x="5687568" y="3099816"/>
            <a:ext cx="5120640" cy="0"/>
          </a:xfrm>
          <a:prstGeom prst="rect">
            <a:avLst/>
          </a:prstGeom>
          <a:noFill/>
        </p:spPr>
        <p:txBody>
          <a:bodyPr wrap="square">
            <a:spAutoFit/>
          </a:bodyPr>
          <a:lstStyle/>
          <a:p>
            <a:pPr algn="l"/>
            <a:r>
              <a:rPr sz="880" b="0">
                <a:solidFill>
                  <a:srgbClr val="A5B2CA"/>
                </a:solidFill>
                <a:latin typeface="Aptos"/>
              </a:rPr>
              <a:t>Adds policy instructions + customer question</a:t>
            </a:r>
          </a:p>
        </p:txBody>
      </p:sp>
      <p:cxnSp>
        <p:nvCxnSpPr>
          <p:cNvPr id="19" name="Connector 18"/>
          <p:cNvCxnSpPr/>
          <p:nvPr/>
        </p:nvCxnSpPr>
        <p:spPr>
          <a:xfrm>
            <a:off x="8183879" y="3172968"/>
            <a:ext cx="0" cy="100584"/>
          </a:xfrm>
          <a:prstGeom prst="line">
            <a:avLst/>
          </a:prstGeom>
          <a:ln w="15240">
            <a:solidFill>
              <a:srgbClr val="895EFF"/>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486400" y="3300984"/>
            <a:ext cx="5486400" cy="56692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486400" y="3300984"/>
            <a:ext cx="50292" cy="566928"/>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687568" y="3429000"/>
            <a:ext cx="5138928" cy="310896"/>
          </a:xfrm>
          <a:prstGeom prst="rect">
            <a:avLst/>
          </a:prstGeom>
          <a:noFill/>
        </p:spPr>
        <p:txBody>
          <a:bodyPr wrap="square">
            <a:spAutoFit/>
          </a:bodyPr>
          <a:lstStyle/>
          <a:p>
            <a:pPr algn="l"/>
            <a:r>
              <a:rPr sz="1050" b="1">
                <a:solidFill>
                  <a:srgbClr val="F5F7FC"/>
                </a:solidFill>
                <a:latin typeface="Aptos"/>
              </a:rPr>
              <a:t>Retriever</a:t>
            </a:r>
          </a:p>
        </p:txBody>
      </p:sp>
      <p:sp>
        <p:nvSpPr>
          <p:cNvPr id="23" name="TextBox 22"/>
          <p:cNvSpPr txBox="1"/>
          <p:nvPr/>
        </p:nvSpPr>
        <p:spPr>
          <a:xfrm>
            <a:off x="5687568" y="3813048"/>
            <a:ext cx="5120640" cy="0"/>
          </a:xfrm>
          <a:prstGeom prst="rect">
            <a:avLst/>
          </a:prstGeom>
          <a:noFill/>
        </p:spPr>
        <p:txBody>
          <a:bodyPr wrap="square">
            <a:spAutoFit/>
          </a:bodyPr>
          <a:lstStyle/>
          <a:p>
            <a:pPr algn="l"/>
            <a:r>
              <a:rPr sz="880" b="0">
                <a:solidFill>
                  <a:srgbClr val="A5B2CA"/>
                </a:solidFill>
                <a:latin typeface="Aptos"/>
              </a:rPr>
              <a:t>Finds the return-policy document</a:t>
            </a:r>
          </a:p>
        </p:txBody>
      </p:sp>
      <p:cxnSp>
        <p:nvCxnSpPr>
          <p:cNvPr id="24" name="Connector 23"/>
          <p:cNvCxnSpPr/>
          <p:nvPr/>
        </p:nvCxnSpPr>
        <p:spPr>
          <a:xfrm>
            <a:off x="8183879" y="3886200"/>
            <a:ext cx="0" cy="100583"/>
          </a:xfrm>
          <a:prstGeom prst="line">
            <a:avLst/>
          </a:prstGeom>
          <a:ln w="15240">
            <a:solidFill>
              <a:srgbClr val="41D28F"/>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486400" y="4014215"/>
            <a:ext cx="5486400" cy="56692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486400" y="4014215"/>
            <a:ext cx="50292" cy="566928"/>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687568" y="4142231"/>
            <a:ext cx="5138928" cy="310896"/>
          </a:xfrm>
          <a:prstGeom prst="rect">
            <a:avLst/>
          </a:prstGeom>
          <a:noFill/>
        </p:spPr>
        <p:txBody>
          <a:bodyPr wrap="square">
            <a:spAutoFit/>
          </a:bodyPr>
          <a:lstStyle/>
          <a:p>
            <a:pPr algn="l"/>
            <a:r>
              <a:rPr sz="1050" b="1">
                <a:solidFill>
                  <a:srgbClr val="F5F7FC"/>
                </a:solidFill>
                <a:latin typeface="Aptos"/>
              </a:rPr>
              <a:t>LLM</a:t>
            </a:r>
          </a:p>
        </p:txBody>
      </p:sp>
      <p:sp>
        <p:nvSpPr>
          <p:cNvPr id="28" name="TextBox 27"/>
          <p:cNvSpPr txBox="1"/>
          <p:nvPr/>
        </p:nvSpPr>
        <p:spPr>
          <a:xfrm>
            <a:off x="5687568" y="4526279"/>
            <a:ext cx="5120640" cy="0"/>
          </a:xfrm>
          <a:prstGeom prst="rect">
            <a:avLst/>
          </a:prstGeom>
          <a:noFill/>
        </p:spPr>
        <p:txBody>
          <a:bodyPr wrap="square">
            <a:spAutoFit/>
          </a:bodyPr>
          <a:lstStyle/>
          <a:p>
            <a:pPr algn="l"/>
            <a:r>
              <a:rPr sz="880" b="0">
                <a:solidFill>
                  <a:srgbClr val="A5B2CA"/>
                </a:solidFill>
                <a:latin typeface="Aptos"/>
              </a:rPr>
              <a:t>Uses retrieved policy to draft answer</a:t>
            </a:r>
          </a:p>
        </p:txBody>
      </p:sp>
      <p:cxnSp>
        <p:nvCxnSpPr>
          <p:cNvPr id="29" name="Connector 28"/>
          <p:cNvCxnSpPr/>
          <p:nvPr/>
        </p:nvCxnSpPr>
        <p:spPr>
          <a:xfrm>
            <a:off x="8183879" y="4599431"/>
            <a:ext cx="0" cy="100585"/>
          </a:xfrm>
          <a:prstGeom prst="line">
            <a:avLst/>
          </a:prstGeom>
          <a:ln w="15240">
            <a:solidFill>
              <a:srgbClr val="FFAE44"/>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486400" y="4727448"/>
            <a:ext cx="5486400" cy="56692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486400" y="4727448"/>
            <a:ext cx="50292" cy="566928"/>
          </a:xfrm>
          <a:prstGeom prst="rect">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87568" y="4855464"/>
            <a:ext cx="5138928" cy="310896"/>
          </a:xfrm>
          <a:prstGeom prst="rect">
            <a:avLst/>
          </a:prstGeom>
          <a:noFill/>
        </p:spPr>
        <p:txBody>
          <a:bodyPr wrap="square">
            <a:spAutoFit/>
          </a:bodyPr>
          <a:lstStyle/>
          <a:p>
            <a:pPr algn="l"/>
            <a:r>
              <a:rPr sz="1050" b="1">
                <a:solidFill>
                  <a:srgbClr val="F5F7FC"/>
                </a:solidFill>
                <a:latin typeface="Aptos"/>
              </a:rPr>
              <a:t>Final answer</a:t>
            </a:r>
          </a:p>
        </p:txBody>
      </p:sp>
      <p:sp>
        <p:nvSpPr>
          <p:cNvPr id="33" name="TextBox 32"/>
          <p:cNvSpPr txBox="1"/>
          <p:nvPr/>
        </p:nvSpPr>
        <p:spPr>
          <a:xfrm>
            <a:off x="5687568" y="5239512"/>
            <a:ext cx="5120640" cy="0"/>
          </a:xfrm>
          <a:prstGeom prst="rect">
            <a:avLst/>
          </a:prstGeom>
          <a:noFill/>
        </p:spPr>
        <p:txBody>
          <a:bodyPr wrap="square">
            <a:spAutoFit/>
          </a:bodyPr>
          <a:lstStyle/>
          <a:p>
            <a:pPr algn="l"/>
            <a:r>
              <a:rPr sz="880" b="0">
                <a:solidFill>
                  <a:srgbClr val="A5B2CA"/>
                </a:solidFill>
                <a:latin typeface="Aptos"/>
              </a:rPr>
              <a:t>“Yes, if the product meets the policy conditions…”</a:t>
            </a:r>
          </a:p>
        </p:txBody>
      </p:sp>
      <p:sp>
        <p:nvSpPr>
          <p:cNvPr id="34" name="Rounded Rectangle 33"/>
          <p:cNvSpPr/>
          <p:nvPr/>
        </p:nvSpPr>
        <p:spPr>
          <a:xfrm>
            <a:off x="5486400" y="5532120"/>
            <a:ext cx="5486400" cy="50292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5486400" y="5532120"/>
            <a:ext cx="50292" cy="502920"/>
          </a:xfrm>
          <a:prstGeom prst="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687568" y="5660136"/>
            <a:ext cx="5138928" cy="310896"/>
          </a:xfrm>
          <a:prstGeom prst="rect">
            <a:avLst/>
          </a:prstGeom>
          <a:noFill/>
        </p:spPr>
        <p:txBody>
          <a:bodyPr wrap="square">
            <a:spAutoFit/>
          </a:bodyPr>
          <a:lstStyle/>
          <a:p>
            <a:pPr algn="l"/>
            <a:r>
              <a:rPr sz="1050" b="1">
                <a:solidFill>
                  <a:srgbClr val="F5F7FC"/>
                </a:solidFill>
                <a:latin typeface="Aptos"/>
              </a:rPr>
              <a:t>DEBUG QUESTION</a:t>
            </a:r>
          </a:p>
        </p:txBody>
      </p:sp>
      <p:sp>
        <p:nvSpPr>
          <p:cNvPr id="37" name="TextBox 36"/>
          <p:cNvSpPr txBox="1"/>
          <p:nvPr/>
        </p:nvSpPr>
        <p:spPr>
          <a:xfrm>
            <a:off x="5687568" y="6044183"/>
            <a:ext cx="5120640" cy="0"/>
          </a:xfrm>
          <a:prstGeom prst="rect">
            <a:avLst/>
          </a:prstGeom>
          <a:noFill/>
        </p:spPr>
        <p:txBody>
          <a:bodyPr wrap="square">
            <a:spAutoFit/>
          </a:bodyPr>
          <a:lstStyle/>
          <a:p>
            <a:pPr algn="l"/>
            <a:r>
              <a:rPr sz="850" b="0">
                <a:solidFill>
                  <a:srgbClr val="A5B2CA"/>
                </a:solidFill>
                <a:latin typeface="Aptos"/>
              </a:rPr>
              <a:t>Did the retriever fetch the correct policy?</a:t>
            </a:r>
          </a:p>
        </p:txBody>
      </p:sp>
      <p:sp>
        <p:nvSpPr>
          <p:cNvPr id="38" name="TextBox 37"/>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dirty="0">
                <a:solidFill>
                  <a:srgbClr val="F5F7FC"/>
                </a:solidFill>
                <a:latin typeface="Aptos"/>
              </a:rPr>
              <a:t>Evaluation</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Evaluation answers: “Is the application producing a good result?”</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09</a:t>
            </a:r>
          </a:p>
        </p:txBody>
      </p:sp>
      <p:sp>
        <p:nvSpPr>
          <p:cNvPr id="5" name="Rounded Rectangle 4"/>
          <p:cNvSpPr/>
          <p:nvPr/>
        </p:nvSpPr>
        <p:spPr>
          <a:xfrm>
            <a:off x="640080" y="1508760"/>
            <a:ext cx="4480560" cy="41148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508760"/>
            <a:ext cx="50292" cy="411480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636776"/>
            <a:ext cx="4133088" cy="310896"/>
          </a:xfrm>
          <a:prstGeom prst="rect">
            <a:avLst/>
          </a:prstGeom>
          <a:noFill/>
        </p:spPr>
        <p:txBody>
          <a:bodyPr wrap="square">
            <a:spAutoFit/>
          </a:bodyPr>
          <a:lstStyle/>
          <a:p>
            <a:pPr algn="l"/>
            <a:r>
              <a:rPr sz="1650" b="1">
                <a:solidFill>
                  <a:srgbClr val="F5F7FC"/>
                </a:solidFill>
                <a:latin typeface="Aptos"/>
              </a:rPr>
              <a:t>Theory</a:t>
            </a:r>
          </a:p>
        </p:txBody>
      </p:sp>
      <p:sp>
        <p:nvSpPr>
          <p:cNvPr id="8" name="TextBox 7"/>
          <p:cNvSpPr txBox="1"/>
          <p:nvPr/>
        </p:nvSpPr>
        <p:spPr>
          <a:xfrm>
            <a:off x="841247" y="2020824"/>
            <a:ext cx="4114800" cy="3493008"/>
          </a:xfrm>
          <a:prstGeom prst="rect">
            <a:avLst/>
          </a:prstGeom>
          <a:noFill/>
        </p:spPr>
        <p:txBody>
          <a:bodyPr wrap="square">
            <a:spAutoFit/>
          </a:bodyPr>
          <a:lstStyle/>
          <a:p>
            <a:pPr algn="l"/>
            <a:r>
              <a:rPr sz="1180" b="0">
                <a:solidFill>
                  <a:srgbClr val="A5B2CA"/>
                </a:solidFill>
                <a:latin typeface="Aptos"/>
              </a:rPr>
              <a:t>• Test an AI output against defined criteria.
• Check correctness, relevance, groundedness or retrieval quality.
• Scores make different versions easier to compare.
• Evaluations can be automated, human-reviewed or model-assisted.</a:t>
            </a:r>
          </a:p>
        </p:txBody>
      </p:sp>
      <p:sp>
        <p:nvSpPr>
          <p:cNvPr id="9" name="TextBox 8"/>
          <p:cNvSpPr txBox="1"/>
          <p:nvPr/>
        </p:nvSpPr>
        <p:spPr>
          <a:xfrm>
            <a:off x="5486400" y="1481328"/>
            <a:ext cx="5303520" cy="274320"/>
          </a:xfrm>
          <a:prstGeom prst="rect">
            <a:avLst/>
          </a:prstGeom>
          <a:noFill/>
        </p:spPr>
        <p:txBody>
          <a:bodyPr wrap="square">
            <a:spAutoFit/>
          </a:bodyPr>
          <a:lstStyle/>
          <a:p>
            <a:pPr algn="l"/>
            <a:r>
              <a:rPr sz="1200" b="1">
                <a:solidFill>
                  <a:srgbClr val="41D28F"/>
                </a:solidFill>
                <a:latin typeface="Aptos"/>
              </a:rPr>
              <a:t>PRACTICAL EXAMPLE: 100 support questions</a:t>
            </a:r>
          </a:p>
        </p:txBody>
      </p:sp>
      <p:sp>
        <p:nvSpPr>
          <p:cNvPr id="10" name="Rounded Rectangle 9"/>
          <p:cNvSpPr/>
          <p:nvPr/>
        </p:nvSpPr>
        <p:spPr>
          <a:xfrm>
            <a:off x="5486400" y="1874519"/>
            <a:ext cx="5486400" cy="603504"/>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0" y="1874519"/>
            <a:ext cx="50292" cy="603504"/>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87568" y="2002536"/>
            <a:ext cx="5138928" cy="310896"/>
          </a:xfrm>
          <a:prstGeom prst="rect">
            <a:avLst/>
          </a:prstGeom>
          <a:noFill/>
        </p:spPr>
        <p:txBody>
          <a:bodyPr wrap="square">
            <a:spAutoFit/>
          </a:bodyPr>
          <a:lstStyle/>
          <a:p>
            <a:pPr algn="l"/>
            <a:r>
              <a:rPr sz="1080" b="1">
                <a:solidFill>
                  <a:srgbClr val="F5F7FC"/>
                </a:solidFill>
                <a:latin typeface="Aptos"/>
              </a:rPr>
              <a:t>TEST SET</a:t>
            </a:r>
          </a:p>
        </p:txBody>
      </p:sp>
      <p:sp>
        <p:nvSpPr>
          <p:cNvPr id="13" name="TextBox 12"/>
          <p:cNvSpPr txBox="1"/>
          <p:nvPr/>
        </p:nvSpPr>
        <p:spPr>
          <a:xfrm>
            <a:off x="5687568" y="2386584"/>
            <a:ext cx="5120640" cy="0"/>
          </a:xfrm>
          <a:prstGeom prst="rect">
            <a:avLst/>
          </a:prstGeom>
          <a:noFill/>
        </p:spPr>
        <p:txBody>
          <a:bodyPr wrap="square">
            <a:spAutoFit/>
          </a:bodyPr>
          <a:lstStyle/>
          <a:p>
            <a:pPr algn="l"/>
            <a:r>
              <a:rPr sz="900" b="0">
                <a:solidFill>
                  <a:srgbClr val="A5B2CA"/>
                </a:solidFill>
                <a:latin typeface="Aptos"/>
              </a:rPr>
              <a:t>100 known customer questions</a:t>
            </a:r>
          </a:p>
        </p:txBody>
      </p:sp>
      <p:sp>
        <p:nvSpPr>
          <p:cNvPr id="14" name="Rounded Rectangle 13"/>
          <p:cNvSpPr/>
          <p:nvPr/>
        </p:nvSpPr>
        <p:spPr>
          <a:xfrm>
            <a:off x="5486400" y="2624327"/>
            <a:ext cx="5486400" cy="603504"/>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0" y="2624327"/>
            <a:ext cx="50292" cy="603504"/>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87568" y="2752344"/>
            <a:ext cx="5138928" cy="310896"/>
          </a:xfrm>
          <a:prstGeom prst="rect">
            <a:avLst/>
          </a:prstGeom>
          <a:noFill/>
        </p:spPr>
        <p:txBody>
          <a:bodyPr wrap="square">
            <a:spAutoFit/>
          </a:bodyPr>
          <a:lstStyle/>
          <a:p>
            <a:pPr algn="l"/>
            <a:r>
              <a:rPr sz="1080" b="1">
                <a:solidFill>
                  <a:srgbClr val="F5F7FC"/>
                </a:solidFill>
                <a:latin typeface="Aptos"/>
              </a:rPr>
              <a:t>RUN</a:t>
            </a:r>
          </a:p>
        </p:txBody>
      </p:sp>
      <p:sp>
        <p:nvSpPr>
          <p:cNvPr id="17" name="TextBox 16"/>
          <p:cNvSpPr txBox="1"/>
          <p:nvPr/>
        </p:nvSpPr>
        <p:spPr>
          <a:xfrm>
            <a:off x="5687568" y="3136391"/>
            <a:ext cx="5120640" cy="0"/>
          </a:xfrm>
          <a:prstGeom prst="rect">
            <a:avLst/>
          </a:prstGeom>
          <a:noFill/>
        </p:spPr>
        <p:txBody>
          <a:bodyPr wrap="square">
            <a:spAutoFit/>
          </a:bodyPr>
          <a:lstStyle/>
          <a:p>
            <a:pPr algn="l"/>
            <a:r>
              <a:rPr sz="900" b="0">
                <a:solidFill>
                  <a:srgbClr val="A5B2CA"/>
                </a:solidFill>
                <a:latin typeface="Aptos"/>
              </a:rPr>
              <a:t>Send each question through the RAG bot</a:t>
            </a:r>
          </a:p>
        </p:txBody>
      </p:sp>
      <p:sp>
        <p:nvSpPr>
          <p:cNvPr id="18" name="Rounded Rectangle 17"/>
          <p:cNvSpPr/>
          <p:nvPr/>
        </p:nvSpPr>
        <p:spPr>
          <a:xfrm>
            <a:off x="5486400" y="3374135"/>
            <a:ext cx="5486400" cy="603504"/>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0" y="3374135"/>
            <a:ext cx="50292" cy="603504"/>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87568" y="3502151"/>
            <a:ext cx="5138928" cy="310896"/>
          </a:xfrm>
          <a:prstGeom prst="rect">
            <a:avLst/>
          </a:prstGeom>
          <a:noFill/>
        </p:spPr>
        <p:txBody>
          <a:bodyPr wrap="square">
            <a:spAutoFit/>
          </a:bodyPr>
          <a:lstStyle/>
          <a:p>
            <a:pPr algn="l"/>
            <a:r>
              <a:rPr sz="1080" b="1">
                <a:solidFill>
                  <a:srgbClr val="F5F7FC"/>
                </a:solidFill>
                <a:latin typeface="Aptos"/>
              </a:rPr>
              <a:t>EVALUATE</a:t>
            </a:r>
          </a:p>
        </p:txBody>
      </p:sp>
      <p:sp>
        <p:nvSpPr>
          <p:cNvPr id="21" name="TextBox 20"/>
          <p:cNvSpPr txBox="1"/>
          <p:nvPr/>
        </p:nvSpPr>
        <p:spPr>
          <a:xfrm>
            <a:off x="5687568" y="3886200"/>
            <a:ext cx="5120640" cy="0"/>
          </a:xfrm>
          <a:prstGeom prst="rect">
            <a:avLst/>
          </a:prstGeom>
          <a:noFill/>
        </p:spPr>
        <p:txBody>
          <a:bodyPr wrap="square">
            <a:spAutoFit/>
          </a:bodyPr>
          <a:lstStyle/>
          <a:p>
            <a:pPr algn="l"/>
            <a:r>
              <a:rPr sz="900" b="0">
                <a:solidFill>
                  <a:srgbClr val="A5B2CA"/>
                </a:solidFill>
                <a:latin typeface="Aptos"/>
              </a:rPr>
              <a:t>Score relevance + correctness + groundedness</a:t>
            </a:r>
          </a:p>
        </p:txBody>
      </p:sp>
      <p:sp>
        <p:nvSpPr>
          <p:cNvPr id="22" name="Rounded Rectangle 21"/>
          <p:cNvSpPr/>
          <p:nvPr/>
        </p:nvSpPr>
        <p:spPr>
          <a:xfrm>
            <a:off x="5486400" y="4123944"/>
            <a:ext cx="5486400" cy="603504"/>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0" y="4123944"/>
            <a:ext cx="50292" cy="603504"/>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87568" y="4251959"/>
            <a:ext cx="5138928" cy="310896"/>
          </a:xfrm>
          <a:prstGeom prst="rect">
            <a:avLst/>
          </a:prstGeom>
          <a:noFill/>
        </p:spPr>
        <p:txBody>
          <a:bodyPr wrap="square">
            <a:spAutoFit/>
          </a:bodyPr>
          <a:lstStyle/>
          <a:p>
            <a:pPr algn="l"/>
            <a:r>
              <a:rPr sz="1080" b="1">
                <a:solidFill>
                  <a:srgbClr val="F5F7FC"/>
                </a:solidFill>
                <a:latin typeface="Aptos"/>
              </a:rPr>
              <a:t>RESULT</a:t>
            </a:r>
          </a:p>
        </p:txBody>
      </p:sp>
      <p:sp>
        <p:nvSpPr>
          <p:cNvPr id="25" name="TextBox 24"/>
          <p:cNvSpPr txBox="1"/>
          <p:nvPr/>
        </p:nvSpPr>
        <p:spPr>
          <a:xfrm>
            <a:off x="5687568" y="4636008"/>
            <a:ext cx="5120640" cy="0"/>
          </a:xfrm>
          <a:prstGeom prst="rect">
            <a:avLst/>
          </a:prstGeom>
          <a:noFill/>
        </p:spPr>
        <p:txBody>
          <a:bodyPr wrap="square">
            <a:spAutoFit/>
          </a:bodyPr>
          <a:lstStyle/>
          <a:p>
            <a:pPr algn="l"/>
            <a:r>
              <a:rPr sz="900" b="0">
                <a:solidFill>
                  <a:srgbClr val="A5B2CA"/>
                </a:solidFill>
                <a:latin typeface="Aptos"/>
              </a:rPr>
              <a:t>Version A = 78%  |  Version B = 91%</a:t>
            </a:r>
          </a:p>
        </p:txBody>
      </p:sp>
      <p:sp>
        <p:nvSpPr>
          <p:cNvPr id="26" name="Rounded Rectangle 25"/>
          <p:cNvSpPr/>
          <p:nvPr/>
        </p:nvSpPr>
        <p:spPr>
          <a:xfrm>
            <a:off x="5486400" y="5166360"/>
            <a:ext cx="5486400" cy="6858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0" y="5166360"/>
            <a:ext cx="50292" cy="685800"/>
          </a:xfrm>
          <a:prstGeom prst="rect">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87568" y="5294376"/>
            <a:ext cx="5138928" cy="310896"/>
          </a:xfrm>
          <a:prstGeom prst="rect">
            <a:avLst/>
          </a:prstGeom>
          <a:noFill/>
        </p:spPr>
        <p:txBody>
          <a:bodyPr wrap="square">
            <a:spAutoFit/>
          </a:bodyPr>
          <a:lstStyle/>
          <a:p>
            <a:pPr algn="l"/>
            <a:r>
              <a:rPr sz="1150" b="1">
                <a:solidFill>
                  <a:srgbClr val="F5F7FC"/>
                </a:solidFill>
                <a:latin typeface="Aptos"/>
              </a:rPr>
              <a:t>DECISION</a:t>
            </a:r>
          </a:p>
        </p:txBody>
      </p:sp>
      <p:sp>
        <p:nvSpPr>
          <p:cNvPr id="29" name="TextBox 28"/>
          <p:cNvSpPr txBox="1"/>
          <p:nvPr/>
        </p:nvSpPr>
        <p:spPr>
          <a:xfrm>
            <a:off x="5687568" y="5678424"/>
            <a:ext cx="5120640" cy="64007"/>
          </a:xfrm>
          <a:prstGeom prst="rect">
            <a:avLst/>
          </a:prstGeom>
          <a:noFill/>
        </p:spPr>
        <p:txBody>
          <a:bodyPr wrap="square">
            <a:spAutoFit/>
          </a:bodyPr>
          <a:lstStyle/>
          <a:p>
            <a:pPr algn="l"/>
            <a:r>
              <a:rPr sz="950" b="0">
                <a:solidFill>
                  <a:srgbClr val="A5B2CA"/>
                </a:solidFill>
                <a:latin typeface="Aptos"/>
              </a:rPr>
              <a:t>Keep Version B because it performs better on the same test set.</a:t>
            </a:r>
          </a:p>
        </p:txBody>
      </p:sp>
      <p:sp>
        <p:nvSpPr>
          <p:cNvPr id="30" name="TextBox 29"/>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dirty="0">
                <a:solidFill>
                  <a:srgbClr val="F5F7FC"/>
                </a:solidFill>
                <a:latin typeface="Aptos"/>
              </a:rPr>
              <a:t>Prompt testing and improvement</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Treat prompts like versions of code: change → test → compare → keep the better version.</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10</a:t>
            </a:r>
          </a:p>
        </p:txBody>
      </p:sp>
      <p:sp>
        <p:nvSpPr>
          <p:cNvPr id="5" name="Rounded Rectangle 4"/>
          <p:cNvSpPr/>
          <p:nvPr/>
        </p:nvSpPr>
        <p:spPr>
          <a:xfrm>
            <a:off x="640080" y="1508760"/>
            <a:ext cx="4480560" cy="4069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508760"/>
            <a:ext cx="50292" cy="406908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636776"/>
            <a:ext cx="4133088" cy="310896"/>
          </a:xfrm>
          <a:prstGeom prst="rect">
            <a:avLst/>
          </a:prstGeom>
          <a:noFill/>
        </p:spPr>
        <p:txBody>
          <a:bodyPr wrap="square">
            <a:spAutoFit/>
          </a:bodyPr>
          <a:lstStyle/>
          <a:p>
            <a:pPr algn="l"/>
            <a:r>
              <a:rPr sz="1650" b="1">
                <a:solidFill>
                  <a:srgbClr val="F5F7FC"/>
                </a:solidFill>
                <a:latin typeface="Aptos"/>
              </a:rPr>
              <a:t>Theory</a:t>
            </a:r>
          </a:p>
        </p:txBody>
      </p:sp>
      <p:sp>
        <p:nvSpPr>
          <p:cNvPr id="8" name="TextBox 7"/>
          <p:cNvSpPr txBox="1"/>
          <p:nvPr/>
        </p:nvSpPr>
        <p:spPr>
          <a:xfrm>
            <a:off x="841247" y="2020824"/>
            <a:ext cx="4114800" cy="3447288"/>
          </a:xfrm>
          <a:prstGeom prst="rect">
            <a:avLst/>
          </a:prstGeom>
          <a:noFill/>
        </p:spPr>
        <p:txBody>
          <a:bodyPr wrap="square">
            <a:spAutoFit/>
          </a:bodyPr>
          <a:lstStyle/>
          <a:p>
            <a:pPr algn="l"/>
            <a:r>
              <a:rPr sz="1180" b="0">
                <a:solidFill>
                  <a:srgbClr val="A5B2CA"/>
                </a:solidFill>
                <a:latin typeface="Aptos"/>
              </a:rPr>
              <a:t>• Prompt wording can change model behavior.
• Save prompt versions instead of editing blindly.
• Test versions on the same examples.
• Compare quality before releasing a change.
• This reduces trial-and-error.</a:t>
            </a:r>
          </a:p>
        </p:txBody>
      </p:sp>
      <p:sp>
        <p:nvSpPr>
          <p:cNvPr id="9" name="Rounded Rectangle 8"/>
          <p:cNvSpPr/>
          <p:nvPr/>
        </p:nvSpPr>
        <p:spPr>
          <a:xfrm>
            <a:off x="5486400" y="1645920"/>
            <a:ext cx="2468880" cy="10515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0" y="1645920"/>
            <a:ext cx="50292" cy="105156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87568" y="1773936"/>
            <a:ext cx="2121408" cy="310896"/>
          </a:xfrm>
          <a:prstGeom prst="rect">
            <a:avLst/>
          </a:prstGeom>
          <a:noFill/>
        </p:spPr>
        <p:txBody>
          <a:bodyPr wrap="square">
            <a:spAutoFit/>
          </a:bodyPr>
          <a:lstStyle/>
          <a:p>
            <a:pPr algn="l"/>
            <a:r>
              <a:rPr sz="1400" b="1">
                <a:solidFill>
                  <a:srgbClr val="F5F7FC"/>
                </a:solidFill>
                <a:latin typeface="Aptos"/>
              </a:rPr>
              <a:t>PROMPT V1</a:t>
            </a:r>
          </a:p>
        </p:txBody>
      </p:sp>
      <p:sp>
        <p:nvSpPr>
          <p:cNvPr id="12" name="TextBox 11"/>
          <p:cNvSpPr txBox="1"/>
          <p:nvPr/>
        </p:nvSpPr>
        <p:spPr>
          <a:xfrm>
            <a:off x="5687568" y="2157984"/>
            <a:ext cx="2103120" cy="429767"/>
          </a:xfrm>
          <a:prstGeom prst="rect">
            <a:avLst/>
          </a:prstGeom>
          <a:noFill/>
        </p:spPr>
        <p:txBody>
          <a:bodyPr wrap="square">
            <a:spAutoFit/>
          </a:bodyPr>
          <a:lstStyle/>
          <a:p>
            <a:pPr algn="l"/>
            <a:r>
              <a:rPr sz="1000" b="0">
                <a:solidFill>
                  <a:srgbClr val="A5B2CA"/>
                </a:solidFill>
                <a:latin typeface="Aptos"/>
              </a:rPr>
              <a:t>“Answer the customer.”</a:t>
            </a:r>
          </a:p>
        </p:txBody>
      </p:sp>
      <p:sp>
        <p:nvSpPr>
          <p:cNvPr id="13" name="Rounded Rectangle 12"/>
          <p:cNvSpPr/>
          <p:nvPr/>
        </p:nvSpPr>
        <p:spPr>
          <a:xfrm>
            <a:off x="8549640" y="1645920"/>
            <a:ext cx="2468880" cy="10515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549640" y="1645920"/>
            <a:ext cx="50292" cy="105156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750808" y="1773936"/>
            <a:ext cx="2121408" cy="310896"/>
          </a:xfrm>
          <a:prstGeom prst="rect">
            <a:avLst/>
          </a:prstGeom>
          <a:noFill/>
        </p:spPr>
        <p:txBody>
          <a:bodyPr wrap="square">
            <a:spAutoFit/>
          </a:bodyPr>
          <a:lstStyle/>
          <a:p>
            <a:pPr algn="l"/>
            <a:r>
              <a:rPr sz="1400" b="1">
                <a:solidFill>
                  <a:srgbClr val="F5F7FC"/>
                </a:solidFill>
                <a:latin typeface="Aptos"/>
              </a:rPr>
              <a:t>PROMPT V2</a:t>
            </a:r>
          </a:p>
        </p:txBody>
      </p:sp>
      <p:sp>
        <p:nvSpPr>
          <p:cNvPr id="16" name="TextBox 15"/>
          <p:cNvSpPr txBox="1"/>
          <p:nvPr/>
        </p:nvSpPr>
        <p:spPr>
          <a:xfrm>
            <a:off x="8750808" y="2157984"/>
            <a:ext cx="2103120" cy="429767"/>
          </a:xfrm>
          <a:prstGeom prst="rect">
            <a:avLst/>
          </a:prstGeom>
          <a:noFill/>
        </p:spPr>
        <p:txBody>
          <a:bodyPr wrap="square">
            <a:spAutoFit/>
          </a:bodyPr>
          <a:lstStyle/>
          <a:p>
            <a:pPr algn="l"/>
            <a:r>
              <a:rPr sz="919" b="0">
                <a:solidFill>
                  <a:srgbClr val="A5B2CA"/>
                </a:solidFill>
                <a:latin typeface="Aptos"/>
              </a:rPr>
              <a:t>“Answer using only policy context; be concise.”</a:t>
            </a:r>
          </a:p>
        </p:txBody>
      </p:sp>
      <p:cxnSp>
        <p:nvCxnSpPr>
          <p:cNvPr id="17" name="Connector 16"/>
          <p:cNvCxnSpPr/>
          <p:nvPr/>
        </p:nvCxnSpPr>
        <p:spPr>
          <a:xfrm>
            <a:off x="8046720" y="2176272"/>
            <a:ext cx="411480" cy="0"/>
          </a:xfrm>
          <a:prstGeom prst="line">
            <a:avLst/>
          </a:prstGeom>
          <a:ln w="25400">
            <a:solidFill>
              <a:srgbClr val="4D9AFF"/>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0" y="3200400"/>
            <a:ext cx="5532120" cy="100584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0" y="3200400"/>
            <a:ext cx="50292" cy="100584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87568" y="3328416"/>
            <a:ext cx="5184648" cy="310896"/>
          </a:xfrm>
          <a:prstGeom prst="rect">
            <a:avLst/>
          </a:prstGeom>
          <a:noFill/>
        </p:spPr>
        <p:txBody>
          <a:bodyPr wrap="square">
            <a:spAutoFit/>
          </a:bodyPr>
          <a:lstStyle/>
          <a:p>
            <a:pPr algn="l"/>
            <a:r>
              <a:rPr sz="1400" b="1">
                <a:solidFill>
                  <a:srgbClr val="F5F7FC"/>
                </a:solidFill>
                <a:latin typeface="Aptos"/>
              </a:rPr>
              <a:t>SAME TEST QUESTIONS</a:t>
            </a:r>
          </a:p>
        </p:txBody>
      </p:sp>
      <p:sp>
        <p:nvSpPr>
          <p:cNvPr id="21" name="TextBox 20"/>
          <p:cNvSpPr txBox="1"/>
          <p:nvPr/>
        </p:nvSpPr>
        <p:spPr>
          <a:xfrm>
            <a:off x="5687568" y="3712464"/>
            <a:ext cx="5166359" cy="384048"/>
          </a:xfrm>
          <a:prstGeom prst="rect">
            <a:avLst/>
          </a:prstGeom>
          <a:noFill/>
        </p:spPr>
        <p:txBody>
          <a:bodyPr wrap="square">
            <a:spAutoFit/>
          </a:bodyPr>
          <a:lstStyle/>
          <a:p>
            <a:pPr algn="l"/>
            <a:r>
              <a:rPr sz="1100" b="0">
                <a:solidFill>
                  <a:srgbClr val="A5B2CA"/>
                </a:solidFill>
                <a:latin typeface="Aptos"/>
              </a:rPr>
              <a:t>Run both versions on the same 50 examples.</a:t>
            </a:r>
          </a:p>
        </p:txBody>
      </p:sp>
      <p:sp>
        <p:nvSpPr>
          <p:cNvPr id="22" name="Rounded Rectangle 21"/>
          <p:cNvSpPr/>
          <p:nvPr/>
        </p:nvSpPr>
        <p:spPr>
          <a:xfrm>
            <a:off x="5486400" y="4526280"/>
            <a:ext cx="2560320" cy="96012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0" y="4526280"/>
            <a:ext cx="50292" cy="96012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87568" y="4654296"/>
            <a:ext cx="2212848" cy="310896"/>
          </a:xfrm>
          <a:prstGeom prst="rect">
            <a:avLst/>
          </a:prstGeom>
          <a:noFill/>
        </p:spPr>
        <p:txBody>
          <a:bodyPr wrap="square">
            <a:spAutoFit/>
          </a:bodyPr>
          <a:lstStyle/>
          <a:p>
            <a:pPr algn="l"/>
            <a:r>
              <a:rPr sz="1400" b="1">
                <a:solidFill>
                  <a:srgbClr val="F5F7FC"/>
                </a:solidFill>
                <a:latin typeface="Aptos"/>
              </a:rPr>
              <a:t>V1 SCORE</a:t>
            </a:r>
          </a:p>
        </p:txBody>
      </p:sp>
      <p:sp>
        <p:nvSpPr>
          <p:cNvPr id="25" name="TextBox 24"/>
          <p:cNvSpPr txBox="1"/>
          <p:nvPr/>
        </p:nvSpPr>
        <p:spPr>
          <a:xfrm>
            <a:off x="5687568" y="5038344"/>
            <a:ext cx="2194560" cy="338328"/>
          </a:xfrm>
          <a:prstGeom prst="rect">
            <a:avLst/>
          </a:prstGeom>
          <a:noFill/>
        </p:spPr>
        <p:txBody>
          <a:bodyPr wrap="square">
            <a:spAutoFit/>
          </a:bodyPr>
          <a:lstStyle/>
          <a:p>
            <a:pPr algn="l"/>
            <a:r>
              <a:rPr sz="1200" b="0">
                <a:solidFill>
                  <a:srgbClr val="A5B2CA"/>
                </a:solidFill>
                <a:latin typeface="Aptos"/>
              </a:rPr>
              <a:t>82%</a:t>
            </a:r>
          </a:p>
        </p:txBody>
      </p:sp>
      <p:sp>
        <p:nvSpPr>
          <p:cNvPr id="26" name="Rounded Rectangle 25"/>
          <p:cNvSpPr/>
          <p:nvPr/>
        </p:nvSpPr>
        <p:spPr>
          <a:xfrm>
            <a:off x="8458200" y="4526280"/>
            <a:ext cx="2560320" cy="96012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458200" y="4526280"/>
            <a:ext cx="50292" cy="96012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659368" y="4654296"/>
            <a:ext cx="2212848" cy="310896"/>
          </a:xfrm>
          <a:prstGeom prst="rect">
            <a:avLst/>
          </a:prstGeom>
          <a:noFill/>
        </p:spPr>
        <p:txBody>
          <a:bodyPr wrap="square">
            <a:spAutoFit/>
          </a:bodyPr>
          <a:lstStyle/>
          <a:p>
            <a:pPr algn="l"/>
            <a:r>
              <a:rPr sz="1400" b="1">
                <a:solidFill>
                  <a:srgbClr val="F5F7FC"/>
                </a:solidFill>
                <a:latin typeface="Aptos"/>
              </a:rPr>
              <a:t>V2 SCORE</a:t>
            </a:r>
          </a:p>
        </p:txBody>
      </p:sp>
      <p:sp>
        <p:nvSpPr>
          <p:cNvPr id="29" name="TextBox 28"/>
          <p:cNvSpPr txBox="1"/>
          <p:nvPr/>
        </p:nvSpPr>
        <p:spPr>
          <a:xfrm>
            <a:off x="8659368" y="5038344"/>
            <a:ext cx="2194560" cy="338328"/>
          </a:xfrm>
          <a:prstGeom prst="rect">
            <a:avLst/>
          </a:prstGeom>
          <a:noFill/>
        </p:spPr>
        <p:txBody>
          <a:bodyPr wrap="square">
            <a:spAutoFit/>
          </a:bodyPr>
          <a:lstStyle/>
          <a:p>
            <a:pPr algn="l"/>
            <a:r>
              <a:rPr sz="1200" b="0">
                <a:solidFill>
                  <a:srgbClr val="A5B2CA"/>
                </a:solidFill>
                <a:latin typeface="Aptos"/>
              </a:rPr>
              <a:t>93%</a:t>
            </a:r>
          </a:p>
        </p:txBody>
      </p:sp>
      <p:sp>
        <p:nvSpPr>
          <p:cNvPr id="30" name="TextBox 29"/>
          <p:cNvSpPr txBox="1"/>
          <p:nvPr/>
        </p:nvSpPr>
        <p:spPr>
          <a:xfrm>
            <a:off x="5532120" y="5715000"/>
            <a:ext cx="5486400" cy="320040"/>
          </a:xfrm>
          <a:prstGeom prst="rect">
            <a:avLst/>
          </a:prstGeom>
          <a:noFill/>
        </p:spPr>
        <p:txBody>
          <a:bodyPr wrap="square">
            <a:spAutoFit/>
          </a:bodyPr>
          <a:lstStyle/>
          <a:p>
            <a:pPr algn="ctr"/>
            <a:r>
              <a:rPr sz="1350" b="1">
                <a:solidFill>
                  <a:srgbClr val="F5F7FC"/>
                </a:solidFill>
                <a:latin typeface="Aptos"/>
              </a:rPr>
              <a:t>Choose V2 → test again → release with confidence</a:t>
            </a:r>
          </a:p>
        </p:txBody>
      </p:sp>
      <p:sp>
        <p:nvSpPr>
          <p:cNvPr id="31" name="TextBox 30"/>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Datasets and testing</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A dataset turns “I think it works” into repeatable evidence.</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11</a:t>
            </a:r>
          </a:p>
        </p:txBody>
      </p:sp>
      <p:sp>
        <p:nvSpPr>
          <p:cNvPr id="5" name="Rounded Rectangle 4"/>
          <p:cNvSpPr/>
          <p:nvPr/>
        </p:nvSpPr>
        <p:spPr>
          <a:xfrm>
            <a:off x="640080" y="1508760"/>
            <a:ext cx="4480560" cy="4069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508760"/>
            <a:ext cx="50292" cy="406908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636776"/>
            <a:ext cx="4133088" cy="310896"/>
          </a:xfrm>
          <a:prstGeom prst="rect">
            <a:avLst/>
          </a:prstGeom>
          <a:noFill/>
        </p:spPr>
        <p:txBody>
          <a:bodyPr wrap="square">
            <a:spAutoFit/>
          </a:bodyPr>
          <a:lstStyle/>
          <a:p>
            <a:pPr algn="l"/>
            <a:r>
              <a:rPr sz="1650" b="1">
                <a:solidFill>
                  <a:srgbClr val="F5F7FC"/>
                </a:solidFill>
                <a:latin typeface="Aptos"/>
              </a:rPr>
              <a:t>Theory</a:t>
            </a:r>
          </a:p>
        </p:txBody>
      </p:sp>
      <p:sp>
        <p:nvSpPr>
          <p:cNvPr id="8" name="TextBox 7"/>
          <p:cNvSpPr txBox="1"/>
          <p:nvPr/>
        </p:nvSpPr>
        <p:spPr>
          <a:xfrm>
            <a:off x="841247" y="2020824"/>
            <a:ext cx="4114800" cy="3447288"/>
          </a:xfrm>
          <a:prstGeom prst="rect">
            <a:avLst/>
          </a:prstGeom>
          <a:noFill/>
        </p:spPr>
        <p:txBody>
          <a:bodyPr wrap="square">
            <a:spAutoFit/>
          </a:bodyPr>
          <a:lstStyle/>
          <a:p>
            <a:pPr algn="l"/>
            <a:r>
              <a:rPr sz="1180" b="0">
                <a:solidFill>
                  <a:srgbClr val="A5B2CA"/>
                </a:solidFill>
                <a:latin typeface="Aptos"/>
              </a:rPr>
              <a:t>• A dataset is a collection of representative test cases.
• Each case can contain an input and, when available, a reference answer.
• Reuse the dataset after prompt/model changes.
• It helps catch regressions before production.
• Start with real questions from users.</a:t>
            </a:r>
          </a:p>
        </p:txBody>
      </p:sp>
      <p:sp>
        <p:nvSpPr>
          <p:cNvPr id="9" name="TextBox 8"/>
          <p:cNvSpPr txBox="1"/>
          <p:nvPr/>
        </p:nvSpPr>
        <p:spPr>
          <a:xfrm>
            <a:off x="5486400" y="1481328"/>
            <a:ext cx="5303520" cy="274320"/>
          </a:xfrm>
          <a:prstGeom prst="rect">
            <a:avLst/>
          </a:prstGeom>
          <a:noFill/>
        </p:spPr>
        <p:txBody>
          <a:bodyPr wrap="square">
            <a:spAutoFit/>
          </a:bodyPr>
          <a:lstStyle/>
          <a:p>
            <a:pPr algn="l"/>
            <a:r>
              <a:rPr sz="1200" b="1">
                <a:solidFill>
                  <a:srgbClr val="4D9AFF"/>
                </a:solidFill>
                <a:latin typeface="Aptos"/>
              </a:rPr>
              <a:t>EXAMPLE TEST DATASET</a:t>
            </a:r>
          </a:p>
        </p:txBody>
      </p:sp>
      <p:sp>
        <p:nvSpPr>
          <p:cNvPr id="10" name="Rounded Rectangle 9"/>
          <p:cNvSpPr/>
          <p:nvPr/>
        </p:nvSpPr>
        <p:spPr>
          <a:xfrm>
            <a:off x="5486400" y="1920240"/>
            <a:ext cx="502920"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486400" y="1961388"/>
            <a:ext cx="502920" cy="201168"/>
          </a:xfrm>
          <a:prstGeom prst="rect">
            <a:avLst/>
          </a:prstGeom>
          <a:noFill/>
        </p:spPr>
        <p:txBody>
          <a:bodyPr wrap="square">
            <a:spAutoFit/>
          </a:bodyPr>
          <a:lstStyle/>
          <a:p>
            <a:pPr algn="ctr"/>
            <a:r>
              <a:rPr sz="900" b="1">
                <a:solidFill>
                  <a:srgbClr val="F5F7FC"/>
                </a:solidFill>
                <a:latin typeface="Aptos"/>
              </a:rPr>
              <a:t>Q1</a:t>
            </a:r>
          </a:p>
        </p:txBody>
      </p:sp>
      <p:sp>
        <p:nvSpPr>
          <p:cNvPr id="12" name="Rounded Rectangle 11"/>
          <p:cNvSpPr/>
          <p:nvPr/>
        </p:nvSpPr>
        <p:spPr>
          <a:xfrm>
            <a:off x="6126480" y="1920240"/>
            <a:ext cx="2240280" cy="640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126480" y="1920240"/>
            <a:ext cx="50292" cy="64008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27648" y="2048256"/>
            <a:ext cx="1892808" cy="310896"/>
          </a:xfrm>
          <a:prstGeom prst="rect">
            <a:avLst/>
          </a:prstGeom>
          <a:noFill/>
        </p:spPr>
        <p:txBody>
          <a:bodyPr wrap="square">
            <a:spAutoFit/>
          </a:bodyPr>
          <a:lstStyle/>
          <a:p>
            <a:pPr algn="l"/>
            <a:r>
              <a:rPr sz="950" b="1">
                <a:solidFill>
                  <a:srgbClr val="F5F7FC"/>
                </a:solidFill>
                <a:latin typeface="Aptos"/>
              </a:rPr>
              <a:t>INPUT</a:t>
            </a:r>
          </a:p>
        </p:txBody>
      </p:sp>
      <p:sp>
        <p:nvSpPr>
          <p:cNvPr id="15" name="TextBox 14"/>
          <p:cNvSpPr txBox="1"/>
          <p:nvPr/>
        </p:nvSpPr>
        <p:spPr>
          <a:xfrm>
            <a:off x="6327648" y="2432304"/>
            <a:ext cx="1874520" cy="18287"/>
          </a:xfrm>
          <a:prstGeom prst="rect">
            <a:avLst/>
          </a:prstGeom>
          <a:noFill/>
        </p:spPr>
        <p:txBody>
          <a:bodyPr wrap="square">
            <a:spAutoFit/>
          </a:bodyPr>
          <a:lstStyle/>
          <a:p>
            <a:pPr algn="l"/>
            <a:r>
              <a:rPr sz="819" b="0">
                <a:solidFill>
                  <a:srgbClr val="A5B2CA"/>
                </a:solidFill>
                <a:latin typeface="Aptos"/>
              </a:rPr>
              <a:t>“How do I reset my password?”</a:t>
            </a:r>
          </a:p>
        </p:txBody>
      </p:sp>
      <p:sp>
        <p:nvSpPr>
          <p:cNvPr id="16" name="Rounded Rectangle 15"/>
          <p:cNvSpPr/>
          <p:nvPr/>
        </p:nvSpPr>
        <p:spPr>
          <a:xfrm>
            <a:off x="8549640" y="1920240"/>
            <a:ext cx="2423160" cy="640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549640" y="1920240"/>
            <a:ext cx="50292" cy="64008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750808" y="2048256"/>
            <a:ext cx="2075688" cy="310896"/>
          </a:xfrm>
          <a:prstGeom prst="rect">
            <a:avLst/>
          </a:prstGeom>
          <a:noFill/>
        </p:spPr>
        <p:txBody>
          <a:bodyPr wrap="square">
            <a:spAutoFit/>
          </a:bodyPr>
          <a:lstStyle/>
          <a:p>
            <a:pPr algn="l"/>
            <a:r>
              <a:rPr sz="950" b="1">
                <a:solidFill>
                  <a:srgbClr val="F5F7FC"/>
                </a:solidFill>
                <a:latin typeface="Aptos"/>
              </a:rPr>
              <a:t>REFERENCE</a:t>
            </a:r>
          </a:p>
        </p:txBody>
      </p:sp>
      <p:sp>
        <p:nvSpPr>
          <p:cNvPr id="19" name="TextBox 18"/>
          <p:cNvSpPr txBox="1"/>
          <p:nvPr/>
        </p:nvSpPr>
        <p:spPr>
          <a:xfrm>
            <a:off x="8750808" y="2432304"/>
            <a:ext cx="2057400" cy="18287"/>
          </a:xfrm>
          <a:prstGeom prst="rect">
            <a:avLst/>
          </a:prstGeom>
          <a:noFill/>
        </p:spPr>
        <p:txBody>
          <a:bodyPr wrap="square">
            <a:spAutoFit/>
          </a:bodyPr>
          <a:lstStyle/>
          <a:p>
            <a:pPr algn="l"/>
            <a:r>
              <a:rPr sz="819" b="0">
                <a:solidFill>
                  <a:srgbClr val="A5B2CA"/>
                </a:solidFill>
                <a:latin typeface="Aptos"/>
              </a:rPr>
              <a:t>Password reset steps</a:t>
            </a:r>
          </a:p>
        </p:txBody>
      </p:sp>
      <p:sp>
        <p:nvSpPr>
          <p:cNvPr id="20" name="Rounded Rectangle 19"/>
          <p:cNvSpPr/>
          <p:nvPr/>
        </p:nvSpPr>
        <p:spPr>
          <a:xfrm>
            <a:off x="5486400" y="2834640"/>
            <a:ext cx="502920"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0" y="2875788"/>
            <a:ext cx="502920" cy="201168"/>
          </a:xfrm>
          <a:prstGeom prst="rect">
            <a:avLst/>
          </a:prstGeom>
          <a:noFill/>
        </p:spPr>
        <p:txBody>
          <a:bodyPr wrap="square">
            <a:spAutoFit/>
          </a:bodyPr>
          <a:lstStyle/>
          <a:p>
            <a:pPr algn="ctr"/>
            <a:r>
              <a:rPr sz="900" b="1">
                <a:solidFill>
                  <a:srgbClr val="F5F7FC"/>
                </a:solidFill>
                <a:latin typeface="Aptos"/>
              </a:rPr>
              <a:t>Q2</a:t>
            </a:r>
          </a:p>
        </p:txBody>
      </p:sp>
      <p:sp>
        <p:nvSpPr>
          <p:cNvPr id="22" name="Rounded Rectangle 21"/>
          <p:cNvSpPr/>
          <p:nvPr/>
        </p:nvSpPr>
        <p:spPr>
          <a:xfrm>
            <a:off x="6126480" y="2834640"/>
            <a:ext cx="2240280" cy="640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126480" y="2834640"/>
            <a:ext cx="50292" cy="64008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27648" y="2962656"/>
            <a:ext cx="1892808" cy="310896"/>
          </a:xfrm>
          <a:prstGeom prst="rect">
            <a:avLst/>
          </a:prstGeom>
          <a:noFill/>
        </p:spPr>
        <p:txBody>
          <a:bodyPr wrap="square">
            <a:spAutoFit/>
          </a:bodyPr>
          <a:lstStyle/>
          <a:p>
            <a:pPr algn="l"/>
            <a:r>
              <a:rPr sz="950" b="1">
                <a:solidFill>
                  <a:srgbClr val="F5F7FC"/>
                </a:solidFill>
                <a:latin typeface="Aptos"/>
              </a:rPr>
              <a:t>INPUT</a:t>
            </a:r>
          </a:p>
        </p:txBody>
      </p:sp>
      <p:sp>
        <p:nvSpPr>
          <p:cNvPr id="25" name="TextBox 24"/>
          <p:cNvSpPr txBox="1"/>
          <p:nvPr/>
        </p:nvSpPr>
        <p:spPr>
          <a:xfrm>
            <a:off x="6327648" y="3346704"/>
            <a:ext cx="1874520" cy="18287"/>
          </a:xfrm>
          <a:prstGeom prst="rect">
            <a:avLst/>
          </a:prstGeom>
          <a:noFill/>
        </p:spPr>
        <p:txBody>
          <a:bodyPr wrap="square">
            <a:spAutoFit/>
          </a:bodyPr>
          <a:lstStyle/>
          <a:p>
            <a:pPr algn="l"/>
            <a:r>
              <a:rPr sz="819" b="0">
                <a:solidFill>
                  <a:srgbClr val="A5B2CA"/>
                </a:solidFill>
                <a:latin typeface="Aptos"/>
              </a:rPr>
              <a:t>“Can I return after 20 days?”</a:t>
            </a:r>
          </a:p>
        </p:txBody>
      </p:sp>
      <p:sp>
        <p:nvSpPr>
          <p:cNvPr id="26" name="Rounded Rectangle 25"/>
          <p:cNvSpPr/>
          <p:nvPr/>
        </p:nvSpPr>
        <p:spPr>
          <a:xfrm>
            <a:off x="8549640" y="2834640"/>
            <a:ext cx="2423160" cy="640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549640" y="2834640"/>
            <a:ext cx="50292" cy="64008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50808" y="2962656"/>
            <a:ext cx="2075688" cy="310896"/>
          </a:xfrm>
          <a:prstGeom prst="rect">
            <a:avLst/>
          </a:prstGeom>
          <a:noFill/>
        </p:spPr>
        <p:txBody>
          <a:bodyPr wrap="square">
            <a:spAutoFit/>
          </a:bodyPr>
          <a:lstStyle/>
          <a:p>
            <a:pPr algn="l"/>
            <a:r>
              <a:rPr sz="950" b="1">
                <a:solidFill>
                  <a:srgbClr val="F5F7FC"/>
                </a:solidFill>
                <a:latin typeface="Aptos"/>
              </a:rPr>
              <a:t>REFERENCE</a:t>
            </a:r>
          </a:p>
        </p:txBody>
      </p:sp>
      <p:sp>
        <p:nvSpPr>
          <p:cNvPr id="29" name="TextBox 28"/>
          <p:cNvSpPr txBox="1"/>
          <p:nvPr/>
        </p:nvSpPr>
        <p:spPr>
          <a:xfrm>
            <a:off x="8750808" y="3346704"/>
            <a:ext cx="2057400" cy="18287"/>
          </a:xfrm>
          <a:prstGeom prst="rect">
            <a:avLst/>
          </a:prstGeom>
          <a:noFill/>
        </p:spPr>
        <p:txBody>
          <a:bodyPr wrap="square">
            <a:spAutoFit/>
          </a:bodyPr>
          <a:lstStyle/>
          <a:p>
            <a:pPr algn="l"/>
            <a:r>
              <a:rPr sz="819" b="0">
                <a:solidFill>
                  <a:srgbClr val="A5B2CA"/>
                </a:solidFill>
                <a:latin typeface="Aptos"/>
              </a:rPr>
              <a:t>Return-policy answer</a:t>
            </a:r>
          </a:p>
        </p:txBody>
      </p:sp>
      <p:sp>
        <p:nvSpPr>
          <p:cNvPr id="30" name="Rounded Rectangle 29"/>
          <p:cNvSpPr/>
          <p:nvPr/>
        </p:nvSpPr>
        <p:spPr>
          <a:xfrm>
            <a:off x="5486400" y="3749039"/>
            <a:ext cx="502920"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0" y="3790187"/>
            <a:ext cx="502920" cy="201168"/>
          </a:xfrm>
          <a:prstGeom prst="rect">
            <a:avLst/>
          </a:prstGeom>
          <a:noFill/>
        </p:spPr>
        <p:txBody>
          <a:bodyPr wrap="square">
            <a:spAutoFit/>
          </a:bodyPr>
          <a:lstStyle/>
          <a:p>
            <a:pPr algn="ctr"/>
            <a:r>
              <a:rPr sz="900" b="1">
                <a:solidFill>
                  <a:srgbClr val="F5F7FC"/>
                </a:solidFill>
                <a:latin typeface="Aptos"/>
              </a:rPr>
              <a:t>Q3</a:t>
            </a:r>
          </a:p>
        </p:txBody>
      </p:sp>
      <p:sp>
        <p:nvSpPr>
          <p:cNvPr id="32" name="Rounded Rectangle 31"/>
          <p:cNvSpPr/>
          <p:nvPr/>
        </p:nvSpPr>
        <p:spPr>
          <a:xfrm>
            <a:off x="6126480" y="3749039"/>
            <a:ext cx="2240280" cy="640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126480" y="3749039"/>
            <a:ext cx="50292" cy="64008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327648" y="3877055"/>
            <a:ext cx="1892808" cy="310896"/>
          </a:xfrm>
          <a:prstGeom prst="rect">
            <a:avLst/>
          </a:prstGeom>
          <a:noFill/>
        </p:spPr>
        <p:txBody>
          <a:bodyPr wrap="square">
            <a:spAutoFit/>
          </a:bodyPr>
          <a:lstStyle/>
          <a:p>
            <a:pPr algn="l"/>
            <a:r>
              <a:rPr sz="950" b="1">
                <a:solidFill>
                  <a:srgbClr val="F5F7FC"/>
                </a:solidFill>
                <a:latin typeface="Aptos"/>
              </a:rPr>
              <a:t>INPUT</a:t>
            </a:r>
          </a:p>
        </p:txBody>
      </p:sp>
      <p:sp>
        <p:nvSpPr>
          <p:cNvPr id="35" name="TextBox 34"/>
          <p:cNvSpPr txBox="1"/>
          <p:nvPr/>
        </p:nvSpPr>
        <p:spPr>
          <a:xfrm>
            <a:off x="6327648" y="4261104"/>
            <a:ext cx="1874520" cy="18287"/>
          </a:xfrm>
          <a:prstGeom prst="rect">
            <a:avLst/>
          </a:prstGeom>
          <a:noFill/>
        </p:spPr>
        <p:txBody>
          <a:bodyPr wrap="square">
            <a:spAutoFit/>
          </a:bodyPr>
          <a:lstStyle/>
          <a:p>
            <a:pPr algn="l"/>
            <a:r>
              <a:rPr sz="819" b="0">
                <a:solidFill>
                  <a:srgbClr val="A5B2CA"/>
                </a:solidFill>
                <a:latin typeface="Aptos"/>
              </a:rPr>
              <a:t>“Where is my order?”</a:t>
            </a:r>
          </a:p>
        </p:txBody>
      </p:sp>
      <p:sp>
        <p:nvSpPr>
          <p:cNvPr id="36" name="Rounded Rectangle 35"/>
          <p:cNvSpPr/>
          <p:nvPr/>
        </p:nvSpPr>
        <p:spPr>
          <a:xfrm>
            <a:off x="8549640" y="3749039"/>
            <a:ext cx="2423160" cy="640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8549640" y="3749039"/>
            <a:ext cx="50292" cy="64008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750808" y="3877055"/>
            <a:ext cx="2075688" cy="310896"/>
          </a:xfrm>
          <a:prstGeom prst="rect">
            <a:avLst/>
          </a:prstGeom>
          <a:noFill/>
        </p:spPr>
        <p:txBody>
          <a:bodyPr wrap="square">
            <a:spAutoFit/>
          </a:bodyPr>
          <a:lstStyle/>
          <a:p>
            <a:pPr algn="l"/>
            <a:r>
              <a:rPr sz="950" b="1">
                <a:solidFill>
                  <a:srgbClr val="F5F7FC"/>
                </a:solidFill>
                <a:latin typeface="Aptos"/>
              </a:rPr>
              <a:t>REFERENCE</a:t>
            </a:r>
          </a:p>
        </p:txBody>
      </p:sp>
      <p:sp>
        <p:nvSpPr>
          <p:cNvPr id="39" name="TextBox 38"/>
          <p:cNvSpPr txBox="1"/>
          <p:nvPr/>
        </p:nvSpPr>
        <p:spPr>
          <a:xfrm>
            <a:off x="8750808" y="4261104"/>
            <a:ext cx="2057400" cy="18287"/>
          </a:xfrm>
          <a:prstGeom prst="rect">
            <a:avLst/>
          </a:prstGeom>
          <a:noFill/>
        </p:spPr>
        <p:txBody>
          <a:bodyPr wrap="square">
            <a:spAutoFit/>
          </a:bodyPr>
          <a:lstStyle/>
          <a:p>
            <a:pPr algn="l"/>
            <a:r>
              <a:rPr sz="819" b="0">
                <a:solidFill>
                  <a:srgbClr val="A5B2CA"/>
                </a:solidFill>
                <a:latin typeface="Aptos"/>
              </a:rPr>
              <a:t>Order-tracking guidance</a:t>
            </a:r>
          </a:p>
        </p:txBody>
      </p:sp>
      <p:sp>
        <p:nvSpPr>
          <p:cNvPr id="40" name="Rounded Rectangle 39"/>
          <p:cNvSpPr/>
          <p:nvPr/>
        </p:nvSpPr>
        <p:spPr>
          <a:xfrm>
            <a:off x="5486400" y="4983480"/>
            <a:ext cx="5486400" cy="6858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5486400" y="4983480"/>
            <a:ext cx="50292" cy="685800"/>
          </a:xfrm>
          <a:prstGeom prst="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687568" y="5111496"/>
            <a:ext cx="5138928" cy="310896"/>
          </a:xfrm>
          <a:prstGeom prst="rect">
            <a:avLst/>
          </a:prstGeom>
          <a:noFill/>
        </p:spPr>
        <p:txBody>
          <a:bodyPr wrap="square">
            <a:spAutoFit/>
          </a:bodyPr>
          <a:lstStyle/>
          <a:p>
            <a:pPr algn="l"/>
            <a:r>
              <a:rPr sz="1150" b="1">
                <a:solidFill>
                  <a:srgbClr val="F5F7FC"/>
                </a:solidFill>
                <a:latin typeface="Aptos"/>
              </a:rPr>
              <a:t>REGRESSION TEST</a:t>
            </a:r>
          </a:p>
        </p:txBody>
      </p:sp>
      <p:sp>
        <p:nvSpPr>
          <p:cNvPr id="43" name="TextBox 42"/>
          <p:cNvSpPr txBox="1"/>
          <p:nvPr/>
        </p:nvSpPr>
        <p:spPr>
          <a:xfrm>
            <a:off x="5687568" y="5495544"/>
            <a:ext cx="5120640" cy="64007"/>
          </a:xfrm>
          <a:prstGeom prst="rect">
            <a:avLst/>
          </a:prstGeom>
          <a:noFill/>
        </p:spPr>
        <p:txBody>
          <a:bodyPr wrap="square">
            <a:spAutoFit/>
          </a:bodyPr>
          <a:lstStyle/>
          <a:p>
            <a:pPr algn="l"/>
            <a:r>
              <a:rPr sz="950" b="0">
                <a:solidFill>
                  <a:srgbClr val="A5B2CA"/>
                </a:solidFill>
                <a:latin typeface="Aptos"/>
              </a:rPr>
              <a:t>Old version = 90%  →  New version = 84%  → investigate before release.</a:t>
            </a:r>
          </a:p>
        </p:txBody>
      </p:sp>
      <p:sp>
        <p:nvSpPr>
          <p:cNvPr id="44" name="TextBox 43"/>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Monitoring</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After deployment, the application must be watched continuously.</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12</a:t>
            </a:r>
          </a:p>
        </p:txBody>
      </p:sp>
      <p:sp>
        <p:nvSpPr>
          <p:cNvPr id="5" name="Rounded Rectangle 4"/>
          <p:cNvSpPr/>
          <p:nvPr/>
        </p:nvSpPr>
        <p:spPr>
          <a:xfrm>
            <a:off x="640080" y="1508760"/>
            <a:ext cx="4480560" cy="406908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40080" y="1508760"/>
            <a:ext cx="50292" cy="406908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7" y="1636776"/>
            <a:ext cx="4133088" cy="310896"/>
          </a:xfrm>
          <a:prstGeom prst="rect">
            <a:avLst/>
          </a:prstGeom>
          <a:noFill/>
        </p:spPr>
        <p:txBody>
          <a:bodyPr wrap="square">
            <a:spAutoFit/>
          </a:bodyPr>
          <a:lstStyle/>
          <a:p>
            <a:pPr algn="l"/>
            <a:r>
              <a:rPr sz="1650" b="1">
                <a:solidFill>
                  <a:srgbClr val="F5F7FC"/>
                </a:solidFill>
                <a:latin typeface="Aptos"/>
              </a:rPr>
              <a:t>What to monitor</a:t>
            </a:r>
          </a:p>
        </p:txBody>
      </p:sp>
      <p:sp>
        <p:nvSpPr>
          <p:cNvPr id="8" name="TextBox 7"/>
          <p:cNvSpPr txBox="1"/>
          <p:nvPr/>
        </p:nvSpPr>
        <p:spPr>
          <a:xfrm>
            <a:off x="841247" y="2020824"/>
            <a:ext cx="4114800" cy="3447288"/>
          </a:xfrm>
          <a:prstGeom prst="rect">
            <a:avLst/>
          </a:prstGeom>
          <a:noFill/>
        </p:spPr>
        <p:txBody>
          <a:bodyPr wrap="square">
            <a:spAutoFit/>
          </a:bodyPr>
          <a:lstStyle/>
          <a:p>
            <a:pPr algn="l"/>
            <a:r>
              <a:rPr sz="1180" b="0">
                <a:solidFill>
                  <a:srgbClr val="A5B2CA"/>
                </a:solidFill>
                <a:latin typeface="Aptos"/>
              </a:rPr>
              <a:t>• Latency — are responses getting slower?
• Errors — are requests failing?
• Quality — are answers still useful?
• Cost / usage — is the system behaving as expected?
• Feedback — what are real users reporting?</a:t>
            </a:r>
          </a:p>
        </p:txBody>
      </p:sp>
      <p:sp>
        <p:nvSpPr>
          <p:cNvPr id="9" name="Rounded Rectangle 8"/>
          <p:cNvSpPr/>
          <p:nvPr/>
        </p:nvSpPr>
        <p:spPr>
          <a:xfrm>
            <a:off x="5486400" y="1645920"/>
            <a:ext cx="5394960" cy="65836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5486400" y="1645920"/>
            <a:ext cx="50292" cy="658368"/>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87568" y="1773936"/>
            <a:ext cx="5047488" cy="310896"/>
          </a:xfrm>
          <a:prstGeom prst="rect">
            <a:avLst/>
          </a:prstGeom>
          <a:noFill/>
        </p:spPr>
        <p:txBody>
          <a:bodyPr wrap="square">
            <a:spAutoFit/>
          </a:bodyPr>
          <a:lstStyle/>
          <a:p>
            <a:pPr algn="l"/>
            <a:r>
              <a:rPr sz="1150" b="1">
                <a:solidFill>
                  <a:srgbClr val="F5F7FC"/>
                </a:solidFill>
                <a:latin typeface="Aptos"/>
              </a:rPr>
              <a:t>1. OBSERVE</a:t>
            </a:r>
          </a:p>
        </p:txBody>
      </p:sp>
      <p:sp>
        <p:nvSpPr>
          <p:cNvPr id="12" name="TextBox 11"/>
          <p:cNvSpPr txBox="1"/>
          <p:nvPr/>
        </p:nvSpPr>
        <p:spPr>
          <a:xfrm>
            <a:off x="5687568" y="2157984"/>
            <a:ext cx="5029200" cy="36575"/>
          </a:xfrm>
          <a:prstGeom prst="rect">
            <a:avLst/>
          </a:prstGeom>
          <a:noFill/>
        </p:spPr>
        <p:txBody>
          <a:bodyPr wrap="square">
            <a:spAutoFit/>
          </a:bodyPr>
          <a:lstStyle/>
          <a:p>
            <a:pPr algn="l"/>
            <a:r>
              <a:rPr sz="900" b="0">
                <a:solidFill>
                  <a:srgbClr val="A5B2CA"/>
                </a:solidFill>
                <a:latin typeface="Aptos"/>
              </a:rPr>
              <a:t>Production runs</a:t>
            </a:r>
          </a:p>
        </p:txBody>
      </p:sp>
      <p:sp>
        <p:nvSpPr>
          <p:cNvPr id="13" name="Rounded Rectangle 12"/>
          <p:cNvSpPr/>
          <p:nvPr/>
        </p:nvSpPr>
        <p:spPr>
          <a:xfrm>
            <a:off x="5486400" y="2514600"/>
            <a:ext cx="5394960" cy="65836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5486400" y="2514600"/>
            <a:ext cx="50292" cy="658368"/>
          </a:xfrm>
          <a:prstGeom prst="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87568" y="2642616"/>
            <a:ext cx="5047488" cy="310896"/>
          </a:xfrm>
          <a:prstGeom prst="rect">
            <a:avLst/>
          </a:prstGeom>
          <a:noFill/>
        </p:spPr>
        <p:txBody>
          <a:bodyPr wrap="square">
            <a:spAutoFit/>
          </a:bodyPr>
          <a:lstStyle/>
          <a:p>
            <a:pPr algn="l"/>
            <a:r>
              <a:rPr sz="1150" b="1">
                <a:solidFill>
                  <a:srgbClr val="F5F7FC"/>
                </a:solidFill>
                <a:latin typeface="Aptos"/>
              </a:rPr>
              <a:t>2. DETECT</a:t>
            </a:r>
          </a:p>
        </p:txBody>
      </p:sp>
      <p:sp>
        <p:nvSpPr>
          <p:cNvPr id="16" name="TextBox 15"/>
          <p:cNvSpPr txBox="1"/>
          <p:nvPr/>
        </p:nvSpPr>
        <p:spPr>
          <a:xfrm>
            <a:off x="5687568" y="3026664"/>
            <a:ext cx="5029200" cy="36575"/>
          </a:xfrm>
          <a:prstGeom prst="rect">
            <a:avLst/>
          </a:prstGeom>
          <a:noFill/>
        </p:spPr>
        <p:txBody>
          <a:bodyPr wrap="square">
            <a:spAutoFit/>
          </a:bodyPr>
          <a:lstStyle/>
          <a:p>
            <a:pPr algn="l"/>
            <a:r>
              <a:rPr sz="900" b="0">
                <a:solidFill>
                  <a:srgbClr val="A5B2CA"/>
                </a:solidFill>
                <a:latin typeface="Aptos"/>
              </a:rPr>
              <a:t>Quality/error signal</a:t>
            </a:r>
          </a:p>
        </p:txBody>
      </p:sp>
      <p:sp>
        <p:nvSpPr>
          <p:cNvPr id="17" name="Rounded Rectangle 16"/>
          <p:cNvSpPr/>
          <p:nvPr/>
        </p:nvSpPr>
        <p:spPr>
          <a:xfrm>
            <a:off x="5486400" y="3383280"/>
            <a:ext cx="5394960" cy="65836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486400" y="3383280"/>
            <a:ext cx="50292" cy="658368"/>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87568" y="3511296"/>
            <a:ext cx="5047488" cy="310896"/>
          </a:xfrm>
          <a:prstGeom prst="rect">
            <a:avLst/>
          </a:prstGeom>
          <a:noFill/>
        </p:spPr>
        <p:txBody>
          <a:bodyPr wrap="square">
            <a:spAutoFit/>
          </a:bodyPr>
          <a:lstStyle/>
          <a:p>
            <a:pPr algn="l"/>
            <a:r>
              <a:rPr sz="1150" b="1">
                <a:solidFill>
                  <a:srgbClr val="F5F7FC"/>
                </a:solidFill>
                <a:latin typeface="Aptos"/>
              </a:rPr>
              <a:t>3. INVESTIGATE</a:t>
            </a:r>
          </a:p>
        </p:txBody>
      </p:sp>
      <p:sp>
        <p:nvSpPr>
          <p:cNvPr id="20" name="TextBox 19"/>
          <p:cNvSpPr txBox="1"/>
          <p:nvPr/>
        </p:nvSpPr>
        <p:spPr>
          <a:xfrm>
            <a:off x="5687568" y="3895344"/>
            <a:ext cx="5029200" cy="36575"/>
          </a:xfrm>
          <a:prstGeom prst="rect">
            <a:avLst/>
          </a:prstGeom>
          <a:noFill/>
        </p:spPr>
        <p:txBody>
          <a:bodyPr wrap="square">
            <a:spAutoFit/>
          </a:bodyPr>
          <a:lstStyle/>
          <a:p>
            <a:pPr algn="l"/>
            <a:r>
              <a:rPr sz="900" b="0">
                <a:solidFill>
                  <a:srgbClr val="A5B2CA"/>
                </a:solidFill>
                <a:latin typeface="Aptos"/>
              </a:rPr>
              <a:t>Open the trace</a:t>
            </a:r>
          </a:p>
        </p:txBody>
      </p:sp>
      <p:sp>
        <p:nvSpPr>
          <p:cNvPr id="21" name="Rounded Rectangle 20"/>
          <p:cNvSpPr/>
          <p:nvPr/>
        </p:nvSpPr>
        <p:spPr>
          <a:xfrm>
            <a:off x="5486400" y="4251959"/>
            <a:ext cx="5394960" cy="658368"/>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5486400" y="4251959"/>
            <a:ext cx="50292" cy="658368"/>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687568" y="4379975"/>
            <a:ext cx="5047488" cy="310896"/>
          </a:xfrm>
          <a:prstGeom prst="rect">
            <a:avLst/>
          </a:prstGeom>
          <a:noFill/>
        </p:spPr>
        <p:txBody>
          <a:bodyPr wrap="square">
            <a:spAutoFit/>
          </a:bodyPr>
          <a:lstStyle/>
          <a:p>
            <a:pPr algn="l"/>
            <a:r>
              <a:rPr sz="1150" b="1">
                <a:solidFill>
                  <a:srgbClr val="F5F7FC"/>
                </a:solidFill>
                <a:latin typeface="Aptos"/>
              </a:rPr>
              <a:t>4. IMPROVE</a:t>
            </a:r>
          </a:p>
        </p:txBody>
      </p:sp>
      <p:sp>
        <p:nvSpPr>
          <p:cNvPr id="24" name="TextBox 23"/>
          <p:cNvSpPr txBox="1"/>
          <p:nvPr/>
        </p:nvSpPr>
        <p:spPr>
          <a:xfrm>
            <a:off x="5687568" y="4764023"/>
            <a:ext cx="5029200" cy="36575"/>
          </a:xfrm>
          <a:prstGeom prst="rect">
            <a:avLst/>
          </a:prstGeom>
          <a:noFill/>
        </p:spPr>
        <p:txBody>
          <a:bodyPr wrap="square">
            <a:spAutoFit/>
          </a:bodyPr>
          <a:lstStyle/>
          <a:p>
            <a:pPr algn="l"/>
            <a:r>
              <a:rPr sz="900" b="0">
                <a:solidFill>
                  <a:srgbClr val="A5B2CA"/>
                </a:solidFill>
                <a:latin typeface="Aptos"/>
              </a:rPr>
              <a:t>Fix + retest</a:t>
            </a:r>
          </a:p>
        </p:txBody>
      </p:sp>
      <p:sp>
        <p:nvSpPr>
          <p:cNvPr id="25" name="TextBox 24"/>
          <p:cNvSpPr txBox="1"/>
          <p:nvPr/>
        </p:nvSpPr>
        <p:spPr>
          <a:xfrm>
            <a:off x="5486400" y="5349240"/>
            <a:ext cx="5486400" cy="457200"/>
          </a:xfrm>
          <a:prstGeom prst="rect">
            <a:avLst/>
          </a:prstGeom>
          <a:noFill/>
        </p:spPr>
        <p:txBody>
          <a:bodyPr wrap="square">
            <a:spAutoFit/>
          </a:bodyPr>
          <a:lstStyle/>
          <a:p>
            <a:pPr algn="ctr"/>
            <a:r>
              <a:rPr sz="1400" b="1">
                <a:solidFill>
                  <a:srgbClr val="F5F7FC"/>
                </a:solidFill>
                <a:latin typeface="Aptos"/>
              </a:rPr>
              <a:t>Production loop: Observe → Detect → Investigate → Improve → Monitor again</a:t>
            </a:r>
          </a:p>
        </p:txBody>
      </p:sp>
      <p:sp>
        <p:nvSpPr>
          <p:cNvPr id="26" name="TextBox 25"/>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Real-world RAG chatbot example</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CommandBar HelpHub: a production-style website/help-center chatbot example.</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13</a:t>
            </a:r>
          </a:p>
        </p:txBody>
      </p:sp>
      <p:sp>
        <p:nvSpPr>
          <p:cNvPr id="5" name="Rounded Rectangle 4"/>
          <p:cNvSpPr/>
          <p:nvPr/>
        </p:nvSpPr>
        <p:spPr>
          <a:xfrm>
            <a:off x="594360" y="1600200"/>
            <a:ext cx="274320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94360" y="1600200"/>
            <a:ext cx="50292" cy="114300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728216"/>
            <a:ext cx="2395728" cy="310896"/>
          </a:xfrm>
          <a:prstGeom prst="rect">
            <a:avLst/>
          </a:prstGeom>
          <a:noFill/>
        </p:spPr>
        <p:txBody>
          <a:bodyPr wrap="square">
            <a:spAutoFit/>
          </a:bodyPr>
          <a:lstStyle/>
          <a:p>
            <a:pPr algn="l"/>
            <a:r>
              <a:rPr sz="1200" b="1">
                <a:solidFill>
                  <a:srgbClr val="F5F7FC"/>
                </a:solidFill>
                <a:latin typeface="Aptos"/>
              </a:rPr>
              <a:t>1. USER</a:t>
            </a:r>
          </a:p>
        </p:txBody>
      </p:sp>
      <p:sp>
        <p:nvSpPr>
          <p:cNvPr id="8" name="TextBox 7"/>
          <p:cNvSpPr txBox="1"/>
          <p:nvPr/>
        </p:nvSpPr>
        <p:spPr>
          <a:xfrm>
            <a:off x="795528" y="2112264"/>
            <a:ext cx="2377440" cy="521207"/>
          </a:xfrm>
          <a:prstGeom prst="rect">
            <a:avLst/>
          </a:prstGeom>
          <a:noFill/>
        </p:spPr>
        <p:txBody>
          <a:bodyPr wrap="square">
            <a:spAutoFit/>
          </a:bodyPr>
          <a:lstStyle/>
          <a:p>
            <a:pPr algn="l"/>
            <a:r>
              <a:rPr sz="950" b="0">
                <a:solidFill>
                  <a:srgbClr val="A5B2CA"/>
                </a:solidFill>
                <a:latin typeface="Aptos"/>
              </a:rPr>
              <a:t>“How do I configure this feature?”</a:t>
            </a:r>
          </a:p>
        </p:txBody>
      </p:sp>
      <p:sp>
        <p:nvSpPr>
          <p:cNvPr id="9" name="Rounded Rectangle 8"/>
          <p:cNvSpPr/>
          <p:nvPr/>
        </p:nvSpPr>
        <p:spPr>
          <a:xfrm>
            <a:off x="3794760" y="1600200"/>
            <a:ext cx="274320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794760" y="1600200"/>
            <a:ext cx="50292" cy="114300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995928" y="1728216"/>
            <a:ext cx="2395728" cy="310896"/>
          </a:xfrm>
          <a:prstGeom prst="rect">
            <a:avLst/>
          </a:prstGeom>
          <a:noFill/>
        </p:spPr>
        <p:txBody>
          <a:bodyPr wrap="square">
            <a:spAutoFit/>
          </a:bodyPr>
          <a:lstStyle/>
          <a:p>
            <a:pPr algn="l"/>
            <a:r>
              <a:rPr sz="1200" b="1">
                <a:solidFill>
                  <a:srgbClr val="F5F7FC"/>
                </a:solidFill>
                <a:latin typeface="Aptos"/>
              </a:rPr>
              <a:t>2. SEARCH / RETRIEVER</a:t>
            </a:r>
          </a:p>
        </p:txBody>
      </p:sp>
      <p:sp>
        <p:nvSpPr>
          <p:cNvPr id="12" name="TextBox 11"/>
          <p:cNvSpPr txBox="1"/>
          <p:nvPr/>
        </p:nvSpPr>
        <p:spPr>
          <a:xfrm>
            <a:off x="3995928" y="2112264"/>
            <a:ext cx="2377440" cy="521207"/>
          </a:xfrm>
          <a:prstGeom prst="rect">
            <a:avLst/>
          </a:prstGeom>
          <a:noFill/>
        </p:spPr>
        <p:txBody>
          <a:bodyPr wrap="square">
            <a:spAutoFit/>
          </a:bodyPr>
          <a:lstStyle/>
          <a:p>
            <a:pPr algn="l"/>
            <a:r>
              <a:rPr sz="950" b="0">
                <a:solidFill>
                  <a:srgbClr val="A5B2CA"/>
                </a:solidFill>
                <a:latin typeface="Aptos"/>
              </a:rPr>
              <a:t>Searches help-center content</a:t>
            </a:r>
          </a:p>
        </p:txBody>
      </p:sp>
      <p:sp>
        <p:nvSpPr>
          <p:cNvPr id="13" name="Rounded Rectangle 12"/>
          <p:cNvSpPr/>
          <p:nvPr/>
        </p:nvSpPr>
        <p:spPr>
          <a:xfrm>
            <a:off x="6995160" y="1600200"/>
            <a:ext cx="210312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995160" y="1600200"/>
            <a:ext cx="50292" cy="114300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196328" y="1728216"/>
            <a:ext cx="1755648" cy="310896"/>
          </a:xfrm>
          <a:prstGeom prst="rect">
            <a:avLst/>
          </a:prstGeom>
          <a:noFill/>
        </p:spPr>
        <p:txBody>
          <a:bodyPr wrap="square">
            <a:spAutoFit/>
          </a:bodyPr>
          <a:lstStyle/>
          <a:p>
            <a:pPr algn="l"/>
            <a:r>
              <a:rPr sz="1200" b="1">
                <a:solidFill>
                  <a:srgbClr val="F5F7FC"/>
                </a:solidFill>
                <a:latin typeface="Aptos"/>
              </a:rPr>
              <a:t>3. LLM</a:t>
            </a:r>
          </a:p>
        </p:txBody>
      </p:sp>
      <p:sp>
        <p:nvSpPr>
          <p:cNvPr id="16" name="TextBox 15"/>
          <p:cNvSpPr txBox="1"/>
          <p:nvPr/>
        </p:nvSpPr>
        <p:spPr>
          <a:xfrm>
            <a:off x="7196328" y="2112264"/>
            <a:ext cx="1737360" cy="521207"/>
          </a:xfrm>
          <a:prstGeom prst="rect">
            <a:avLst/>
          </a:prstGeom>
          <a:noFill/>
        </p:spPr>
        <p:txBody>
          <a:bodyPr wrap="square">
            <a:spAutoFit/>
          </a:bodyPr>
          <a:lstStyle/>
          <a:p>
            <a:pPr algn="l"/>
            <a:r>
              <a:rPr sz="950" b="0">
                <a:solidFill>
                  <a:srgbClr val="A5B2CA"/>
                </a:solidFill>
                <a:latin typeface="Aptos"/>
              </a:rPr>
              <a:t>Combines context + prompt</a:t>
            </a:r>
          </a:p>
        </p:txBody>
      </p:sp>
      <p:sp>
        <p:nvSpPr>
          <p:cNvPr id="17" name="Rounded Rectangle 16"/>
          <p:cNvSpPr/>
          <p:nvPr/>
        </p:nvSpPr>
        <p:spPr>
          <a:xfrm>
            <a:off x="9555480" y="1600200"/>
            <a:ext cx="205740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555480" y="1600200"/>
            <a:ext cx="50292" cy="114300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756648" y="1728216"/>
            <a:ext cx="1709928" cy="310896"/>
          </a:xfrm>
          <a:prstGeom prst="rect">
            <a:avLst/>
          </a:prstGeom>
          <a:noFill/>
        </p:spPr>
        <p:txBody>
          <a:bodyPr wrap="square">
            <a:spAutoFit/>
          </a:bodyPr>
          <a:lstStyle/>
          <a:p>
            <a:pPr algn="l"/>
            <a:r>
              <a:rPr sz="1200" b="1">
                <a:solidFill>
                  <a:srgbClr val="F5F7FC"/>
                </a:solidFill>
                <a:latin typeface="Aptos"/>
              </a:rPr>
              <a:t>4. ANSWER</a:t>
            </a:r>
          </a:p>
        </p:txBody>
      </p:sp>
      <p:sp>
        <p:nvSpPr>
          <p:cNvPr id="20" name="TextBox 19"/>
          <p:cNvSpPr txBox="1"/>
          <p:nvPr/>
        </p:nvSpPr>
        <p:spPr>
          <a:xfrm>
            <a:off x="9756648" y="2112264"/>
            <a:ext cx="1691640" cy="521207"/>
          </a:xfrm>
          <a:prstGeom prst="rect">
            <a:avLst/>
          </a:prstGeom>
          <a:noFill/>
        </p:spPr>
        <p:txBody>
          <a:bodyPr wrap="square">
            <a:spAutoFit/>
          </a:bodyPr>
          <a:lstStyle/>
          <a:p>
            <a:pPr algn="l"/>
            <a:r>
              <a:rPr sz="950" b="0">
                <a:solidFill>
                  <a:srgbClr val="A5B2CA"/>
                </a:solidFill>
                <a:latin typeface="Aptos"/>
              </a:rPr>
              <a:t>Relevant answer + source</a:t>
            </a:r>
          </a:p>
        </p:txBody>
      </p:sp>
      <p:cxnSp>
        <p:nvCxnSpPr>
          <p:cNvPr id="21" name="Connector 20"/>
          <p:cNvCxnSpPr/>
          <p:nvPr/>
        </p:nvCxnSpPr>
        <p:spPr>
          <a:xfrm>
            <a:off x="3383280" y="2176272"/>
            <a:ext cx="320040" cy="0"/>
          </a:xfrm>
          <a:prstGeom prst="line">
            <a:avLst/>
          </a:prstGeom>
          <a:ln w="25400">
            <a:solidFill>
              <a:srgbClr val="4D9A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583680" y="2176272"/>
            <a:ext cx="320040" cy="0"/>
          </a:xfrm>
          <a:prstGeom prst="line">
            <a:avLst/>
          </a:prstGeom>
          <a:ln w="25400">
            <a:solidFill>
              <a:srgbClr val="41D28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144000" y="2176272"/>
            <a:ext cx="320040" cy="0"/>
          </a:xfrm>
          <a:prstGeom prst="line">
            <a:avLst/>
          </a:prstGeom>
          <a:ln w="25400">
            <a:solidFill>
              <a:srgbClr val="FFAE44"/>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828800" y="3246120"/>
            <a:ext cx="8549640" cy="10515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828800" y="3246120"/>
            <a:ext cx="50292" cy="1051560"/>
          </a:xfrm>
          <a:prstGeom prst="rect">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029968" y="3374136"/>
            <a:ext cx="8202167" cy="310896"/>
          </a:xfrm>
          <a:prstGeom prst="rect">
            <a:avLst/>
          </a:prstGeom>
          <a:noFill/>
        </p:spPr>
        <p:txBody>
          <a:bodyPr wrap="square">
            <a:spAutoFit/>
          </a:bodyPr>
          <a:lstStyle/>
          <a:p>
            <a:pPr algn="l"/>
            <a:r>
              <a:rPr sz="1500" b="1">
                <a:solidFill>
                  <a:srgbClr val="F5F7FC"/>
                </a:solidFill>
                <a:latin typeface="Aptos"/>
              </a:rPr>
              <a:t>WHERE LANGSMITH HELPS</a:t>
            </a:r>
          </a:p>
        </p:txBody>
      </p:sp>
      <p:sp>
        <p:nvSpPr>
          <p:cNvPr id="27" name="TextBox 26"/>
          <p:cNvSpPr txBox="1"/>
          <p:nvPr/>
        </p:nvSpPr>
        <p:spPr>
          <a:xfrm>
            <a:off x="2029968" y="3758183"/>
            <a:ext cx="8183879" cy="429767"/>
          </a:xfrm>
          <a:prstGeom prst="rect">
            <a:avLst/>
          </a:prstGeom>
          <a:noFill/>
        </p:spPr>
        <p:txBody>
          <a:bodyPr wrap="square">
            <a:spAutoFit/>
          </a:bodyPr>
          <a:lstStyle/>
          <a:p>
            <a:pPr algn="l"/>
            <a:r>
              <a:rPr sz="1150" b="0">
                <a:solidFill>
                  <a:srgbClr val="A5B2CA"/>
                </a:solidFill>
                <a:latin typeface="Aptos"/>
              </a:rPr>
              <a:t>Trace the search + prompt + LLM steps • inspect failures • test prompt changes • optimize response quality</a:t>
            </a:r>
          </a:p>
        </p:txBody>
      </p:sp>
      <p:sp>
        <p:nvSpPr>
          <p:cNvPr id="28" name="Rounded Rectangle 27"/>
          <p:cNvSpPr/>
          <p:nvPr/>
        </p:nvSpPr>
        <p:spPr>
          <a:xfrm>
            <a:off x="777240" y="4617720"/>
            <a:ext cx="525780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777240" y="4617720"/>
            <a:ext cx="50292" cy="114300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78408" y="4745736"/>
            <a:ext cx="4910328" cy="310896"/>
          </a:xfrm>
          <a:prstGeom prst="rect">
            <a:avLst/>
          </a:prstGeom>
          <a:noFill/>
        </p:spPr>
        <p:txBody>
          <a:bodyPr wrap="square">
            <a:spAutoFit/>
          </a:bodyPr>
          <a:lstStyle/>
          <a:p>
            <a:pPr algn="l"/>
            <a:r>
              <a:rPr sz="1350" b="1">
                <a:solidFill>
                  <a:srgbClr val="F5F7FC"/>
                </a:solidFill>
                <a:latin typeface="Aptos"/>
              </a:rPr>
              <a:t>REAL-WORLD LESSON</a:t>
            </a:r>
          </a:p>
        </p:txBody>
      </p:sp>
      <p:sp>
        <p:nvSpPr>
          <p:cNvPr id="31" name="TextBox 30"/>
          <p:cNvSpPr txBox="1"/>
          <p:nvPr/>
        </p:nvSpPr>
        <p:spPr>
          <a:xfrm>
            <a:off x="978408" y="5129783"/>
            <a:ext cx="4892040" cy="521207"/>
          </a:xfrm>
          <a:prstGeom prst="rect">
            <a:avLst/>
          </a:prstGeom>
          <a:noFill/>
        </p:spPr>
        <p:txBody>
          <a:bodyPr wrap="square">
            <a:spAutoFit/>
          </a:bodyPr>
          <a:lstStyle/>
          <a:p>
            <a:pPr algn="l"/>
            <a:r>
              <a:rPr sz="1050" b="0">
                <a:solidFill>
                  <a:srgbClr val="A5B2CA"/>
                </a:solidFill>
                <a:latin typeface="Aptos"/>
              </a:rPr>
              <a:t>CommandBar described using its HelpHub chatbot with search + LangChain, while LangSmith captured traces to optimize functionality and QA.</a:t>
            </a:r>
          </a:p>
        </p:txBody>
      </p:sp>
      <p:sp>
        <p:nvSpPr>
          <p:cNvPr id="32" name="Rounded Rectangle 31"/>
          <p:cNvSpPr/>
          <p:nvPr/>
        </p:nvSpPr>
        <p:spPr>
          <a:xfrm>
            <a:off x="6263640" y="4617720"/>
            <a:ext cx="5120640" cy="11430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6263640" y="4617720"/>
            <a:ext cx="50292" cy="114300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464807" y="4745736"/>
            <a:ext cx="4773168" cy="310896"/>
          </a:xfrm>
          <a:prstGeom prst="rect">
            <a:avLst/>
          </a:prstGeom>
          <a:noFill/>
        </p:spPr>
        <p:txBody>
          <a:bodyPr wrap="square">
            <a:spAutoFit/>
          </a:bodyPr>
          <a:lstStyle/>
          <a:p>
            <a:pPr algn="l"/>
            <a:r>
              <a:rPr sz="1350" b="1">
                <a:solidFill>
                  <a:srgbClr val="F5F7FC"/>
                </a:solidFill>
                <a:latin typeface="Aptos"/>
              </a:rPr>
              <a:t>WHY THIS MATTERS</a:t>
            </a:r>
          </a:p>
        </p:txBody>
      </p:sp>
      <p:sp>
        <p:nvSpPr>
          <p:cNvPr id="35" name="TextBox 34"/>
          <p:cNvSpPr txBox="1"/>
          <p:nvPr/>
        </p:nvSpPr>
        <p:spPr>
          <a:xfrm>
            <a:off x="6464807" y="5129783"/>
            <a:ext cx="4754879" cy="521207"/>
          </a:xfrm>
          <a:prstGeom prst="rect">
            <a:avLst/>
          </a:prstGeom>
          <a:noFill/>
        </p:spPr>
        <p:txBody>
          <a:bodyPr wrap="square">
            <a:spAutoFit/>
          </a:bodyPr>
          <a:lstStyle/>
          <a:p>
            <a:pPr algn="l"/>
            <a:r>
              <a:rPr sz="1050" b="0">
                <a:solidFill>
                  <a:srgbClr val="A5B2CA"/>
                </a:solidFill>
                <a:latin typeface="Aptos"/>
              </a:rPr>
              <a:t>If the chatbot gives a wrong answer, the team can ask: Was the right document retrieved, was the prompt correct, and did the LLM use the context?</a:t>
            </a:r>
          </a:p>
        </p:txBody>
      </p:sp>
      <p:sp>
        <p:nvSpPr>
          <p:cNvPr id="36" name="TextBox 35"/>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LangChain vs LangSmith</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Related tools, different primary responsibilities.</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14</a:t>
            </a:r>
          </a:p>
        </p:txBody>
      </p:sp>
      <p:sp>
        <p:nvSpPr>
          <p:cNvPr id="5" name="Rounded Rectangle 4"/>
          <p:cNvSpPr/>
          <p:nvPr/>
        </p:nvSpPr>
        <p:spPr>
          <a:xfrm>
            <a:off x="685800" y="1554480"/>
            <a:ext cx="5166360" cy="37947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0292" cy="3794760"/>
          </a:xfrm>
          <a:prstGeom prst="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682495"/>
            <a:ext cx="4818888" cy="310896"/>
          </a:xfrm>
          <a:prstGeom prst="rect">
            <a:avLst/>
          </a:prstGeom>
          <a:noFill/>
        </p:spPr>
        <p:txBody>
          <a:bodyPr wrap="square">
            <a:spAutoFit/>
          </a:bodyPr>
          <a:lstStyle/>
          <a:p>
            <a:pPr algn="l"/>
            <a:r>
              <a:rPr sz="1800" b="1">
                <a:solidFill>
                  <a:srgbClr val="F5F7FC"/>
                </a:solidFill>
                <a:latin typeface="Aptos"/>
              </a:rPr>
              <a:t>LANGCHAIN — BUILD</a:t>
            </a:r>
          </a:p>
        </p:txBody>
      </p:sp>
      <p:sp>
        <p:nvSpPr>
          <p:cNvPr id="8" name="TextBox 7"/>
          <p:cNvSpPr txBox="1"/>
          <p:nvPr/>
        </p:nvSpPr>
        <p:spPr>
          <a:xfrm>
            <a:off x="886968" y="2066543"/>
            <a:ext cx="4800600" cy="3172968"/>
          </a:xfrm>
          <a:prstGeom prst="rect">
            <a:avLst/>
          </a:prstGeom>
          <a:noFill/>
        </p:spPr>
        <p:txBody>
          <a:bodyPr wrap="square">
            <a:spAutoFit/>
          </a:bodyPr>
          <a:lstStyle/>
          <a:p>
            <a:pPr algn="l"/>
            <a:r>
              <a:rPr sz="1300" b="0">
                <a:solidFill>
                  <a:srgbClr val="A5B2CA"/>
                </a:solidFill>
                <a:latin typeface="Aptos"/>
              </a:rPr>
              <a:t>• Connect LLMs, prompts and tools.
• Build application workflows.
• Create RAG applications and agents.
• Manage application logic.</a:t>
            </a:r>
          </a:p>
        </p:txBody>
      </p:sp>
      <p:sp>
        <p:nvSpPr>
          <p:cNvPr id="9" name="Rounded Rectangle 8"/>
          <p:cNvSpPr/>
          <p:nvPr/>
        </p:nvSpPr>
        <p:spPr>
          <a:xfrm>
            <a:off x="6263640" y="1554480"/>
            <a:ext cx="5166360" cy="379476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554480"/>
            <a:ext cx="50292" cy="3794760"/>
          </a:xfrm>
          <a:prstGeom prst="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7" y="1682495"/>
            <a:ext cx="4818888" cy="310896"/>
          </a:xfrm>
          <a:prstGeom prst="rect">
            <a:avLst/>
          </a:prstGeom>
          <a:noFill/>
        </p:spPr>
        <p:txBody>
          <a:bodyPr wrap="square">
            <a:spAutoFit/>
          </a:bodyPr>
          <a:lstStyle/>
          <a:p>
            <a:pPr algn="l"/>
            <a:r>
              <a:rPr sz="1800" b="1">
                <a:solidFill>
                  <a:srgbClr val="F5F7FC"/>
                </a:solidFill>
                <a:latin typeface="Aptos"/>
              </a:rPr>
              <a:t>LANGSMITH — UNDERSTAND &amp; IMPROVE</a:t>
            </a:r>
          </a:p>
        </p:txBody>
      </p:sp>
      <p:sp>
        <p:nvSpPr>
          <p:cNvPr id="12" name="TextBox 11"/>
          <p:cNvSpPr txBox="1"/>
          <p:nvPr/>
        </p:nvSpPr>
        <p:spPr>
          <a:xfrm>
            <a:off x="6464807" y="2066543"/>
            <a:ext cx="4800600" cy="3172968"/>
          </a:xfrm>
          <a:prstGeom prst="rect">
            <a:avLst/>
          </a:prstGeom>
          <a:noFill/>
        </p:spPr>
        <p:txBody>
          <a:bodyPr wrap="square">
            <a:spAutoFit/>
          </a:bodyPr>
          <a:lstStyle/>
          <a:p>
            <a:pPr algn="l"/>
            <a:r>
              <a:rPr sz="1300" b="0">
                <a:solidFill>
                  <a:srgbClr val="A5B2CA"/>
                </a:solidFill>
                <a:latin typeface="Aptos"/>
              </a:rPr>
              <a:t>• Trace application runs.
• Debug and investigate failures.
• Evaluate responses and test prompts.
• Monitor applications.</a:t>
            </a:r>
          </a:p>
        </p:txBody>
      </p:sp>
      <p:sp>
        <p:nvSpPr>
          <p:cNvPr id="13" name="Rounded Rectangle 12"/>
          <p:cNvSpPr/>
          <p:nvPr/>
        </p:nvSpPr>
        <p:spPr>
          <a:xfrm>
            <a:off x="2560320" y="5623560"/>
            <a:ext cx="1280160" cy="310896"/>
          </a:xfrm>
          <a:prstGeom prst="round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60320" y="5664708"/>
            <a:ext cx="1280160" cy="201168"/>
          </a:xfrm>
          <a:prstGeom prst="rect">
            <a:avLst/>
          </a:prstGeom>
          <a:noFill/>
        </p:spPr>
        <p:txBody>
          <a:bodyPr wrap="square">
            <a:spAutoFit/>
          </a:bodyPr>
          <a:lstStyle/>
          <a:p>
            <a:pPr algn="ctr"/>
            <a:r>
              <a:rPr sz="950" b="1">
                <a:solidFill>
                  <a:srgbClr val="F5F7FC"/>
                </a:solidFill>
                <a:latin typeface="Aptos"/>
              </a:rPr>
              <a:t>BUILD</a:t>
            </a:r>
          </a:p>
        </p:txBody>
      </p:sp>
      <p:cxnSp>
        <p:nvCxnSpPr>
          <p:cNvPr id="15" name="Connector 14"/>
          <p:cNvCxnSpPr/>
          <p:nvPr/>
        </p:nvCxnSpPr>
        <p:spPr>
          <a:xfrm>
            <a:off x="3931920" y="5779008"/>
            <a:ext cx="4023359" cy="0"/>
          </a:xfrm>
          <a:prstGeom prst="line">
            <a:avLst/>
          </a:prstGeom>
          <a:ln w="25400">
            <a:solidFill>
              <a:srgbClr val="895EFF"/>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8046720" y="5623560"/>
            <a:ext cx="2423160"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0" y="5664708"/>
            <a:ext cx="2423160" cy="201168"/>
          </a:xfrm>
          <a:prstGeom prst="rect">
            <a:avLst/>
          </a:prstGeom>
          <a:noFill/>
        </p:spPr>
        <p:txBody>
          <a:bodyPr wrap="square">
            <a:spAutoFit/>
          </a:bodyPr>
          <a:lstStyle/>
          <a:p>
            <a:pPr algn="ctr"/>
            <a:r>
              <a:rPr sz="950" b="1">
                <a:solidFill>
                  <a:srgbClr val="F5F7FC"/>
                </a:solidFill>
                <a:latin typeface="Aptos"/>
              </a:rPr>
              <a:t>OBSERVE • TEST • IMPROVE</a:t>
            </a:r>
          </a:p>
        </p:txBody>
      </p:sp>
      <p:sp>
        <p:nvSpPr>
          <p:cNvPr id="18" name="TextBox 17"/>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TextBox 1"/>
          <p:cNvSpPr txBox="1"/>
          <p:nvPr/>
        </p:nvSpPr>
        <p:spPr>
          <a:xfrm>
            <a:off x="640080" y="384048"/>
            <a:ext cx="10515600" cy="502920"/>
          </a:xfrm>
          <a:prstGeom prst="rect">
            <a:avLst/>
          </a:prstGeom>
          <a:noFill/>
        </p:spPr>
        <p:txBody>
          <a:bodyPr wrap="square">
            <a:spAutoFit/>
          </a:bodyPr>
          <a:lstStyle/>
          <a:p>
            <a:pPr algn="l"/>
            <a:r>
              <a:rPr sz="2700" b="1">
                <a:solidFill>
                  <a:srgbClr val="F5F7FC"/>
                </a:solidFill>
                <a:latin typeface="Aptos"/>
              </a:rPr>
              <a:t>Advantages &amp; challenges</a:t>
            </a:r>
          </a:p>
        </p:txBody>
      </p:sp>
      <p:sp>
        <p:nvSpPr>
          <p:cNvPr id="3" name="TextBox 2"/>
          <p:cNvSpPr txBox="1"/>
          <p:nvPr/>
        </p:nvSpPr>
        <p:spPr>
          <a:xfrm>
            <a:off x="658368" y="932688"/>
            <a:ext cx="10607040" cy="347472"/>
          </a:xfrm>
          <a:prstGeom prst="rect">
            <a:avLst/>
          </a:prstGeom>
          <a:noFill/>
        </p:spPr>
        <p:txBody>
          <a:bodyPr wrap="square">
            <a:spAutoFit/>
          </a:bodyPr>
          <a:lstStyle/>
          <a:p>
            <a:pPr algn="l"/>
            <a:r>
              <a:rPr sz="1150" b="0">
                <a:solidFill>
                  <a:srgbClr val="A5B2CA"/>
                </a:solidFill>
                <a:latin typeface="Aptos"/>
              </a:rPr>
              <a:t>A balanced view makes the tool easier to explain realistically.</a:t>
            </a:r>
          </a:p>
        </p:txBody>
      </p:sp>
      <p:sp>
        <p:nvSpPr>
          <p:cNvPr id="4" name="TextBox 3"/>
          <p:cNvSpPr txBox="1"/>
          <p:nvPr/>
        </p:nvSpPr>
        <p:spPr>
          <a:xfrm>
            <a:off x="11064240" y="420624"/>
            <a:ext cx="411480" cy="228600"/>
          </a:xfrm>
          <a:prstGeom prst="rect">
            <a:avLst/>
          </a:prstGeom>
          <a:noFill/>
        </p:spPr>
        <p:txBody>
          <a:bodyPr wrap="square">
            <a:spAutoFit/>
          </a:bodyPr>
          <a:lstStyle/>
          <a:p>
            <a:pPr algn="r"/>
            <a:r>
              <a:rPr sz="1000" b="1">
                <a:solidFill>
                  <a:srgbClr val="A5B2CA"/>
                </a:solidFill>
                <a:latin typeface="Aptos"/>
              </a:rPr>
              <a:t>15</a:t>
            </a:r>
          </a:p>
        </p:txBody>
      </p:sp>
      <p:sp>
        <p:nvSpPr>
          <p:cNvPr id="5" name="Rounded Rectangle 4"/>
          <p:cNvSpPr/>
          <p:nvPr/>
        </p:nvSpPr>
        <p:spPr>
          <a:xfrm>
            <a:off x="685800" y="1554480"/>
            <a:ext cx="5166360" cy="38862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 y="1554480"/>
            <a:ext cx="50292" cy="3886200"/>
          </a:xfrm>
          <a:prstGeom prst="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1682495"/>
            <a:ext cx="4818888" cy="310896"/>
          </a:xfrm>
          <a:prstGeom prst="rect">
            <a:avLst/>
          </a:prstGeom>
          <a:noFill/>
        </p:spPr>
        <p:txBody>
          <a:bodyPr wrap="square">
            <a:spAutoFit/>
          </a:bodyPr>
          <a:lstStyle/>
          <a:p>
            <a:pPr algn="l"/>
            <a:r>
              <a:rPr sz="1800" b="1">
                <a:solidFill>
                  <a:srgbClr val="F5F7FC"/>
                </a:solidFill>
                <a:latin typeface="Aptos"/>
              </a:rPr>
              <a:t>Advantages</a:t>
            </a:r>
          </a:p>
        </p:txBody>
      </p:sp>
      <p:sp>
        <p:nvSpPr>
          <p:cNvPr id="8" name="TextBox 7"/>
          <p:cNvSpPr txBox="1"/>
          <p:nvPr/>
        </p:nvSpPr>
        <p:spPr>
          <a:xfrm>
            <a:off x="886968" y="2066543"/>
            <a:ext cx="4800600" cy="3264408"/>
          </a:xfrm>
          <a:prstGeom prst="rect">
            <a:avLst/>
          </a:prstGeom>
          <a:noFill/>
        </p:spPr>
        <p:txBody>
          <a:bodyPr wrap="square">
            <a:spAutoFit/>
          </a:bodyPr>
          <a:lstStyle/>
          <a:p>
            <a:pPr algn="l"/>
            <a:r>
              <a:rPr sz="1300" b="0">
                <a:solidFill>
                  <a:srgbClr val="A5B2CA"/>
                </a:solidFill>
                <a:latin typeface="Aptos"/>
              </a:rPr>
              <a:t>• Makes hidden LLM steps visible.
• Speeds up debugging.
• Supports repeatable evaluation.
• Helps compare prompts and models.
• Useful for production monitoring.</a:t>
            </a:r>
          </a:p>
        </p:txBody>
      </p:sp>
      <p:sp>
        <p:nvSpPr>
          <p:cNvPr id="9" name="Rounded Rectangle 8"/>
          <p:cNvSpPr/>
          <p:nvPr/>
        </p:nvSpPr>
        <p:spPr>
          <a:xfrm>
            <a:off x="6263640" y="1554480"/>
            <a:ext cx="5166360" cy="388620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263640" y="1554480"/>
            <a:ext cx="50292" cy="3886200"/>
          </a:xfrm>
          <a:prstGeom prst="rect">
            <a:avLst/>
          </a:prstGeom>
          <a:solidFill>
            <a:srgbClr val="FFAE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64807" y="1682495"/>
            <a:ext cx="4818888" cy="310896"/>
          </a:xfrm>
          <a:prstGeom prst="rect">
            <a:avLst/>
          </a:prstGeom>
          <a:noFill/>
        </p:spPr>
        <p:txBody>
          <a:bodyPr wrap="square">
            <a:spAutoFit/>
          </a:bodyPr>
          <a:lstStyle/>
          <a:p>
            <a:pPr algn="l"/>
            <a:r>
              <a:rPr sz="1800" b="1">
                <a:solidFill>
                  <a:srgbClr val="F5F7FC"/>
                </a:solidFill>
                <a:latin typeface="Aptos"/>
              </a:rPr>
              <a:t>Challenges</a:t>
            </a:r>
          </a:p>
        </p:txBody>
      </p:sp>
      <p:sp>
        <p:nvSpPr>
          <p:cNvPr id="12" name="TextBox 11"/>
          <p:cNvSpPr txBox="1"/>
          <p:nvPr/>
        </p:nvSpPr>
        <p:spPr>
          <a:xfrm>
            <a:off x="6464807" y="2066543"/>
            <a:ext cx="4800600" cy="3264408"/>
          </a:xfrm>
          <a:prstGeom prst="rect">
            <a:avLst/>
          </a:prstGeom>
          <a:noFill/>
        </p:spPr>
        <p:txBody>
          <a:bodyPr wrap="square">
            <a:spAutoFit/>
          </a:bodyPr>
          <a:lstStyle/>
          <a:p>
            <a:pPr algn="l"/>
            <a:r>
              <a:rPr sz="1300" b="0">
                <a:solidFill>
                  <a:srgbClr val="A5B2CA"/>
                </a:solidFill>
                <a:latin typeface="Aptos"/>
              </a:rPr>
              <a:t>• Requires learning and setup.
• Good evaluation needs good test data.
• Automated evaluation is not perfect.
• Adds another tool to the workflow.
• Human judgment is still important.</a:t>
            </a:r>
          </a:p>
        </p:txBody>
      </p:sp>
      <p:sp>
        <p:nvSpPr>
          <p:cNvPr id="13" name="TextBox 12"/>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2" name="Rounded Rectangle 1"/>
          <p:cNvSpPr/>
          <p:nvPr/>
        </p:nvSpPr>
        <p:spPr>
          <a:xfrm>
            <a:off x="685800" y="594360"/>
            <a:ext cx="1417320"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635508"/>
            <a:ext cx="1417320" cy="201168"/>
          </a:xfrm>
          <a:prstGeom prst="rect">
            <a:avLst/>
          </a:prstGeom>
          <a:noFill/>
        </p:spPr>
        <p:txBody>
          <a:bodyPr wrap="square">
            <a:spAutoFit/>
          </a:bodyPr>
          <a:lstStyle/>
          <a:p>
            <a:pPr algn="ctr"/>
            <a:r>
              <a:rPr sz="950" b="1">
                <a:solidFill>
                  <a:srgbClr val="F5F7FC"/>
                </a:solidFill>
                <a:latin typeface="Aptos"/>
              </a:rPr>
              <a:t>KEY TAKEAWAYS</a:t>
            </a:r>
          </a:p>
        </p:txBody>
      </p:sp>
      <p:sp>
        <p:nvSpPr>
          <p:cNvPr id="4" name="TextBox 3"/>
          <p:cNvSpPr txBox="1"/>
          <p:nvPr/>
        </p:nvSpPr>
        <p:spPr>
          <a:xfrm>
            <a:off x="685800" y="1325880"/>
            <a:ext cx="7132320" cy="548640"/>
          </a:xfrm>
          <a:prstGeom prst="rect">
            <a:avLst/>
          </a:prstGeom>
          <a:noFill/>
        </p:spPr>
        <p:txBody>
          <a:bodyPr wrap="square">
            <a:spAutoFit/>
          </a:bodyPr>
          <a:lstStyle/>
          <a:p>
            <a:pPr algn="l"/>
            <a:r>
              <a:rPr sz="3100" b="1">
                <a:solidFill>
                  <a:srgbClr val="F5F7FC"/>
                </a:solidFill>
                <a:latin typeface="Aptos"/>
              </a:rPr>
              <a:t>LangSmith in 4 words</a:t>
            </a:r>
          </a:p>
        </p:txBody>
      </p:sp>
      <p:sp>
        <p:nvSpPr>
          <p:cNvPr id="5" name="Rounded Rectangle 4"/>
          <p:cNvSpPr/>
          <p:nvPr/>
        </p:nvSpPr>
        <p:spPr>
          <a:xfrm>
            <a:off x="868680" y="2103120"/>
            <a:ext cx="1325880" cy="310896"/>
          </a:xfrm>
          <a:prstGeom prst="roundRect">
            <a:avLst/>
          </a:prstGeom>
          <a:solidFill>
            <a:srgbClr val="4D9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144268"/>
            <a:ext cx="1325880" cy="201168"/>
          </a:xfrm>
          <a:prstGeom prst="rect">
            <a:avLst/>
          </a:prstGeom>
          <a:noFill/>
        </p:spPr>
        <p:txBody>
          <a:bodyPr wrap="square">
            <a:spAutoFit/>
          </a:bodyPr>
          <a:lstStyle/>
          <a:p>
            <a:pPr algn="ctr"/>
            <a:r>
              <a:rPr sz="950" b="1">
                <a:solidFill>
                  <a:srgbClr val="F5F7FC"/>
                </a:solidFill>
                <a:latin typeface="Aptos"/>
              </a:rPr>
              <a:t>TRACE</a:t>
            </a:r>
          </a:p>
        </p:txBody>
      </p:sp>
      <p:sp>
        <p:nvSpPr>
          <p:cNvPr id="7" name="TextBox 6"/>
          <p:cNvSpPr txBox="1"/>
          <p:nvPr/>
        </p:nvSpPr>
        <p:spPr>
          <a:xfrm>
            <a:off x="2423160" y="2121408"/>
            <a:ext cx="7040880" cy="274320"/>
          </a:xfrm>
          <a:prstGeom prst="rect">
            <a:avLst/>
          </a:prstGeom>
          <a:noFill/>
        </p:spPr>
        <p:txBody>
          <a:bodyPr wrap="square">
            <a:spAutoFit/>
          </a:bodyPr>
          <a:lstStyle/>
          <a:p>
            <a:pPr algn="l"/>
            <a:r>
              <a:rPr sz="1550" b="1">
                <a:solidFill>
                  <a:srgbClr val="F5F7FC"/>
                </a:solidFill>
                <a:latin typeface="Aptos"/>
              </a:rPr>
              <a:t>See what happened</a:t>
            </a:r>
          </a:p>
        </p:txBody>
      </p:sp>
      <p:sp>
        <p:nvSpPr>
          <p:cNvPr id="8" name="Rounded Rectangle 7"/>
          <p:cNvSpPr/>
          <p:nvPr/>
        </p:nvSpPr>
        <p:spPr>
          <a:xfrm>
            <a:off x="868680" y="2788920"/>
            <a:ext cx="1325880" cy="310896"/>
          </a:xfrm>
          <a:prstGeom prst="roundRect">
            <a:avLst/>
          </a:prstGeom>
          <a:solidFill>
            <a:srgbClr val="41D2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68680" y="2830068"/>
            <a:ext cx="1325880" cy="201168"/>
          </a:xfrm>
          <a:prstGeom prst="rect">
            <a:avLst/>
          </a:prstGeom>
          <a:noFill/>
        </p:spPr>
        <p:txBody>
          <a:bodyPr wrap="square">
            <a:spAutoFit/>
          </a:bodyPr>
          <a:lstStyle/>
          <a:p>
            <a:pPr algn="ctr"/>
            <a:r>
              <a:rPr sz="950" b="1">
                <a:solidFill>
                  <a:srgbClr val="F5F7FC"/>
                </a:solidFill>
                <a:latin typeface="Aptos"/>
              </a:rPr>
              <a:t>EVALUATE</a:t>
            </a:r>
          </a:p>
        </p:txBody>
      </p:sp>
      <p:sp>
        <p:nvSpPr>
          <p:cNvPr id="10" name="TextBox 9"/>
          <p:cNvSpPr txBox="1"/>
          <p:nvPr/>
        </p:nvSpPr>
        <p:spPr>
          <a:xfrm>
            <a:off x="2423160" y="2807208"/>
            <a:ext cx="7040880" cy="274320"/>
          </a:xfrm>
          <a:prstGeom prst="rect">
            <a:avLst/>
          </a:prstGeom>
          <a:noFill/>
        </p:spPr>
        <p:txBody>
          <a:bodyPr wrap="square">
            <a:spAutoFit/>
          </a:bodyPr>
          <a:lstStyle/>
          <a:p>
            <a:pPr algn="l"/>
            <a:r>
              <a:rPr sz="1550" b="1">
                <a:solidFill>
                  <a:srgbClr val="F5F7FC"/>
                </a:solidFill>
                <a:latin typeface="Aptos"/>
              </a:rPr>
              <a:t>Check quality</a:t>
            </a:r>
          </a:p>
        </p:txBody>
      </p:sp>
      <p:sp>
        <p:nvSpPr>
          <p:cNvPr id="11" name="Rounded Rectangle 10"/>
          <p:cNvSpPr/>
          <p:nvPr/>
        </p:nvSpPr>
        <p:spPr>
          <a:xfrm>
            <a:off x="868680" y="3474720"/>
            <a:ext cx="1325880" cy="310896"/>
          </a:xfrm>
          <a:prstGeom prst="roundRect">
            <a:avLst/>
          </a:prstGeom>
          <a:solidFill>
            <a:srgbClr val="FF5F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3515868"/>
            <a:ext cx="1325880" cy="201168"/>
          </a:xfrm>
          <a:prstGeom prst="rect">
            <a:avLst/>
          </a:prstGeom>
          <a:noFill/>
        </p:spPr>
        <p:txBody>
          <a:bodyPr wrap="square">
            <a:spAutoFit/>
          </a:bodyPr>
          <a:lstStyle/>
          <a:p>
            <a:pPr algn="ctr"/>
            <a:r>
              <a:rPr sz="950" b="1">
                <a:solidFill>
                  <a:srgbClr val="F5F7FC"/>
                </a:solidFill>
                <a:latin typeface="Aptos"/>
              </a:rPr>
              <a:t>DEBUG</a:t>
            </a:r>
          </a:p>
        </p:txBody>
      </p:sp>
      <p:sp>
        <p:nvSpPr>
          <p:cNvPr id="13" name="TextBox 12"/>
          <p:cNvSpPr txBox="1"/>
          <p:nvPr/>
        </p:nvSpPr>
        <p:spPr>
          <a:xfrm>
            <a:off x="2423160" y="3493008"/>
            <a:ext cx="7040880" cy="274320"/>
          </a:xfrm>
          <a:prstGeom prst="rect">
            <a:avLst/>
          </a:prstGeom>
          <a:noFill/>
        </p:spPr>
        <p:txBody>
          <a:bodyPr wrap="square">
            <a:spAutoFit/>
          </a:bodyPr>
          <a:lstStyle/>
          <a:p>
            <a:pPr algn="l"/>
            <a:r>
              <a:rPr sz="1550" b="1">
                <a:solidFill>
                  <a:srgbClr val="F5F7FC"/>
                </a:solidFill>
                <a:latin typeface="Aptos"/>
              </a:rPr>
              <a:t>Find the problem</a:t>
            </a:r>
          </a:p>
        </p:txBody>
      </p:sp>
      <p:sp>
        <p:nvSpPr>
          <p:cNvPr id="14" name="Rounded Rectangle 13"/>
          <p:cNvSpPr/>
          <p:nvPr/>
        </p:nvSpPr>
        <p:spPr>
          <a:xfrm>
            <a:off x="868680" y="4160520"/>
            <a:ext cx="1325880" cy="310896"/>
          </a:xfrm>
          <a:prstGeom prst="roundRect">
            <a:avLst/>
          </a:prstGeom>
          <a:solidFill>
            <a:srgbClr val="895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680" y="4201668"/>
            <a:ext cx="1325880" cy="201168"/>
          </a:xfrm>
          <a:prstGeom prst="rect">
            <a:avLst/>
          </a:prstGeom>
          <a:noFill/>
        </p:spPr>
        <p:txBody>
          <a:bodyPr wrap="square">
            <a:spAutoFit/>
          </a:bodyPr>
          <a:lstStyle/>
          <a:p>
            <a:pPr algn="ctr"/>
            <a:r>
              <a:rPr sz="950" b="1">
                <a:solidFill>
                  <a:srgbClr val="F5F7FC"/>
                </a:solidFill>
                <a:latin typeface="Aptos"/>
              </a:rPr>
              <a:t>IMPROVE</a:t>
            </a:r>
          </a:p>
        </p:txBody>
      </p:sp>
      <p:sp>
        <p:nvSpPr>
          <p:cNvPr id="16" name="TextBox 15"/>
          <p:cNvSpPr txBox="1"/>
          <p:nvPr/>
        </p:nvSpPr>
        <p:spPr>
          <a:xfrm>
            <a:off x="2423160" y="4178807"/>
            <a:ext cx="7040880" cy="274320"/>
          </a:xfrm>
          <a:prstGeom prst="rect">
            <a:avLst/>
          </a:prstGeom>
          <a:noFill/>
        </p:spPr>
        <p:txBody>
          <a:bodyPr wrap="square">
            <a:spAutoFit/>
          </a:bodyPr>
          <a:lstStyle/>
          <a:p>
            <a:pPr algn="l"/>
            <a:r>
              <a:rPr sz="1550" b="1">
                <a:solidFill>
                  <a:srgbClr val="F5F7FC"/>
                </a:solidFill>
                <a:latin typeface="Aptos"/>
              </a:rPr>
              <a:t>Make it better</a:t>
            </a:r>
          </a:p>
        </p:txBody>
      </p:sp>
      <p:sp>
        <p:nvSpPr>
          <p:cNvPr id="17" name="Rounded Rectangle 16"/>
          <p:cNvSpPr/>
          <p:nvPr/>
        </p:nvSpPr>
        <p:spPr>
          <a:xfrm>
            <a:off x="8138160" y="2057400"/>
            <a:ext cx="2971800" cy="2377440"/>
          </a:xfrm>
          <a:prstGeom prst="roundRect">
            <a:avLst/>
          </a:prstGeom>
          <a:solidFill>
            <a:srgbClr val="11182A"/>
          </a:solidFill>
          <a:ln>
            <a:solidFill>
              <a:srgbClr val="1B243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38160" y="2057400"/>
            <a:ext cx="50292" cy="2377440"/>
          </a:xfrm>
          <a:prstGeom prst="rect">
            <a:avLst/>
          </a:prstGeom>
          <a:solidFill>
            <a:srgbClr val="3ED3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339328" y="2185416"/>
            <a:ext cx="2624328" cy="310896"/>
          </a:xfrm>
          <a:prstGeom prst="rect">
            <a:avLst/>
          </a:prstGeom>
          <a:noFill/>
        </p:spPr>
        <p:txBody>
          <a:bodyPr wrap="square">
            <a:spAutoFit/>
          </a:bodyPr>
          <a:lstStyle/>
          <a:p>
            <a:pPr algn="l"/>
            <a:r>
              <a:rPr sz="1600" b="1">
                <a:solidFill>
                  <a:srgbClr val="F5F7FC"/>
                </a:solidFill>
                <a:latin typeface="Aptos"/>
              </a:rPr>
              <a:t>ONE-LINE SUMMARY</a:t>
            </a:r>
          </a:p>
        </p:txBody>
      </p:sp>
      <p:sp>
        <p:nvSpPr>
          <p:cNvPr id="20" name="TextBox 19"/>
          <p:cNvSpPr txBox="1"/>
          <p:nvPr/>
        </p:nvSpPr>
        <p:spPr>
          <a:xfrm>
            <a:off x="8339328" y="2569464"/>
            <a:ext cx="2606040" cy="1755648"/>
          </a:xfrm>
          <a:prstGeom prst="rect">
            <a:avLst/>
          </a:prstGeom>
          <a:noFill/>
        </p:spPr>
        <p:txBody>
          <a:bodyPr wrap="square">
            <a:spAutoFit/>
          </a:bodyPr>
          <a:lstStyle/>
          <a:p>
            <a:pPr algn="l"/>
            <a:r>
              <a:rPr sz="1300" b="0">
                <a:solidFill>
                  <a:srgbClr val="A5B2CA"/>
                </a:solidFill>
                <a:latin typeface="Aptos"/>
              </a:rPr>
              <a:t>LangSmith helps developers understand, test, debug and improve LLM applications.</a:t>
            </a:r>
          </a:p>
        </p:txBody>
      </p:sp>
      <p:sp>
        <p:nvSpPr>
          <p:cNvPr id="21" name="TextBox 20"/>
          <p:cNvSpPr txBox="1"/>
          <p:nvPr/>
        </p:nvSpPr>
        <p:spPr>
          <a:xfrm>
            <a:off x="914400" y="5074920"/>
            <a:ext cx="10332720" cy="640080"/>
          </a:xfrm>
          <a:prstGeom prst="rect">
            <a:avLst/>
          </a:prstGeom>
          <a:noFill/>
        </p:spPr>
        <p:txBody>
          <a:bodyPr wrap="square">
            <a:spAutoFit/>
          </a:bodyPr>
          <a:lstStyle/>
          <a:p>
            <a:pPr algn="ctr"/>
            <a:r>
              <a:rPr sz="1800" b="1">
                <a:solidFill>
                  <a:srgbClr val="F5F7FC"/>
                </a:solidFill>
                <a:latin typeface="Aptos"/>
              </a:rPr>
              <a:t>“LangChain helps us BUILD the AI application; LangSmith helps us UNDERSTAND, TEST and IMPROVE it.”</a:t>
            </a:r>
          </a:p>
        </p:txBody>
      </p:sp>
      <p:sp>
        <p:nvSpPr>
          <p:cNvPr id="22" name="TextBox 21"/>
          <p:cNvSpPr txBox="1"/>
          <p:nvPr/>
        </p:nvSpPr>
        <p:spPr>
          <a:xfrm>
            <a:off x="0" y="6144768"/>
            <a:ext cx="11887200" cy="320040"/>
          </a:xfrm>
          <a:prstGeom prst="rect">
            <a:avLst/>
          </a:prstGeom>
          <a:noFill/>
        </p:spPr>
        <p:txBody>
          <a:bodyPr wrap="square">
            <a:spAutoFit/>
          </a:bodyPr>
          <a:lstStyle/>
          <a:p>
            <a:pPr algn="ctr"/>
            <a:r>
              <a:rPr sz="1400" b="1">
                <a:solidFill>
                  <a:srgbClr val="A5B2CA"/>
                </a:solidFill>
                <a:latin typeface="Aptos"/>
              </a:rPr>
              <a:t>Thank You • Questions?</a:t>
            </a:r>
          </a:p>
        </p:txBody>
      </p:sp>
      <p:sp>
        <p:nvSpPr>
          <p:cNvPr id="23" name="TextBox 22"/>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70B18"/>
        </a:solidFill>
        <a:effectLst/>
      </p:bgPr>
    </p:bg>
    <p:spTree>
      <p:nvGrpSpPr>
        <p:cNvPr id="1" name=""/>
        <p:cNvGrpSpPr/>
        <p:nvPr/>
      </p:nvGrpSpPr>
      <p:grpSpPr>
        <a:xfrm>
          <a:off x="0" y="0"/>
          <a:ext cx="0" cy="0"/>
          <a:chOff x="0" y="0"/>
          <a:chExt cx="0" cy="0"/>
        </a:xfrm>
      </p:grpSpPr>
      <p:sp>
        <p:nvSpPr>
          <p:cNvPr id="4" name="TextBox 3"/>
          <p:cNvSpPr txBox="1"/>
          <p:nvPr/>
        </p:nvSpPr>
        <p:spPr>
          <a:xfrm>
            <a:off x="685800" y="2398261"/>
            <a:ext cx="7315200" cy="731520"/>
          </a:xfrm>
          <a:prstGeom prst="rect">
            <a:avLst/>
          </a:prstGeom>
          <a:noFill/>
        </p:spPr>
        <p:txBody>
          <a:bodyPr wrap="square">
            <a:spAutoFit/>
          </a:bodyPr>
          <a:lstStyle/>
          <a:p>
            <a:pPr algn="l"/>
            <a:r>
              <a:rPr sz="4400" b="1" dirty="0">
                <a:solidFill>
                  <a:srgbClr val="F5F7FC"/>
                </a:solidFill>
                <a:latin typeface="Aptos"/>
              </a:rPr>
              <a:t>Questions?</a:t>
            </a:r>
          </a:p>
        </p:txBody>
      </p:sp>
      <p:sp>
        <p:nvSpPr>
          <p:cNvPr id="5" name="TextBox 4"/>
          <p:cNvSpPr txBox="1"/>
          <p:nvPr/>
        </p:nvSpPr>
        <p:spPr>
          <a:xfrm>
            <a:off x="685800" y="3402711"/>
            <a:ext cx="6858000" cy="365760"/>
          </a:xfrm>
          <a:prstGeom prst="rect">
            <a:avLst/>
          </a:prstGeom>
          <a:noFill/>
        </p:spPr>
        <p:txBody>
          <a:bodyPr wrap="square">
            <a:spAutoFit/>
          </a:bodyPr>
          <a:lstStyle/>
          <a:p>
            <a:pPr algn="l"/>
            <a:r>
              <a:rPr sz="1800" b="1" dirty="0" err="1">
                <a:solidFill>
                  <a:srgbClr val="4D9AFF"/>
                </a:solidFill>
                <a:latin typeface="Aptos"/>
              </a:rPr>
              <a:t>LangSmith</a:t>
            </a:r>
            <a:r>
              <a:rPr sz="1800" b="1" dirty="0">
                <a:solidFill>
                  <a:srgbClr val="4D9AFF"/>
                </a:solidFill>
                <a:latin typeface="Aptos"/>
              </a:rPr>
              <a:t> • Trace • Evaluate • Debug • Improve</a:t>
            </a:r>
          </a:p>
        </p:txBody>
      </p:sp>
      <p:sp>
        <p:nvSpPr>
          <p:cNvPr id="6" name="TextBox 5"/>
          <p:cNvSpPr txBox="1"/>
          <p:nvPr/>
        </p:nvSpPr>
        <p:spPr>
          <a:xfrm>
            <a:off x="731520" y="4015864"/>
            <a:ext cx="5486400" cy="365760"/>
          </a:xfrm>
          <a:prstGeom prst="rect">
            <a:avLst/>
          </a:prstGeom>
          <a:noFill/>
        </p:spPr>
        <p:txBody>
          <a:bodyPr wrap="square">
            <a:spAutoFit/>
          </a:bodyPr>
          <a:lstStyle/>
          <a:p>
            <a:pPr algn="l"/>
            <a:r>
              <a:rPr sz="1500" b="0" dirty="0">
                <a:solidFill>
                  <a:srgbClr val="A5B2CA"/>
                </a:solidFill>
                <a:latin typeface="Aptos"/>
              </a:rPr>
              <a:t>Thank you for listening.</a:t>
            </a:r>
          </a:p>
        </p:txBody>
      </p:sp>
      <p:sp>
        <p:nvSpPr>
          <p:cNvPr id="7" name="TextBox 6"/>
          <p:cNvSpPr txBox="1"/>
          <p:nvPr/>
        </p:nvSpPr>
        <p:spPr>
          <a:xfrm>
            <a:off x="731520" y="5715000"/>
            <a:ext cx="3657600" cy="274320"/>
          </a:xfrm>
          <a:prstGeom prst="rect">
            <a:avLst/>
          </a:prstGeom>
          <a:noFill/>
        </p:spPr>
        <p:txBody>
          <a:bodyPr wrap="square">
            <a:spAutoFit/>
          </a:bodyPr>
          <a:lstStyle/>
          <a:p>
            <a:pPr algn="l"/>
            <a:r>
              <a:rPr sz="1050" b="0">
                <a:solidFill>
                  <a:srgbClr val="A5B2CA"/>
                </a:solidFill>
                <a:latin typeface="Aptos"/>
              </a:rPr>
              <a:t>10–15 minute presentation</a:t>
            </a:r>
          </a:p>
        </p:txBody>
      </p:sp>
      <p:sp>
        <p:nvSpPr>
          <p:cNvPr id="8" name="TextBox 7"/>
          <p:cNvSpPr txBox="1"/>
          <p:nvPr/>
        </p:nvSpPr>
        <p:spPr>
          <a:xfrm>
            <a:off x="640080" y="6473952"/>
            <a:ext cx="3657600" cy="164592"/>
          </a:xfrm>
          <a:prstGeom prst="rect">
            <a:avLst/>
          </a:prstGeom>
          <a:noFill/>
        </p:spPr>
        <p:txBody>
          <a:bodyPr wrap="square">
            <a:spAutoFit/>
          </a:bodyPr>
          <a:lstStyle/>
          <a:p>
            <a:pPr algn="l"/>
            <a:r>
              <a:rPr sz="850" b="1">
                <a:solidFill>
                  <a:srgbClr val="A5B2CA"/>
                </a:solidFill>
                <a:latin typeface="Aptos"/>
              </a:rPr>
              <a:t>LANGSMITH • GENERATIVE AI</a:t>
            </a:r>
          </a:p>
        </p:txBody>
      </p:sp>
      <p:pic>
        <p:nvPicPr>
          <p:cNvPr id="10" name="Picture 9">
            <a:extLst>
              <a:ext uri="{FF2B5EF4-FFF2-40B4-BE49-F238E27FC236}">
                <a16:creationId xmlns:a16="http://schemas.microsoft.com/office/drawing/2014/main" id="{131B242C-D042-40B4-31EB-CD3FBF7921AA}"/>
              </a:ext>
            </a:extLst>
          </p:cNvPr>
          <p:cNvPicPr>
            <a:picLocks noChangeAspect="1"/>
          </p:cNvPicPr>
          <p:nvPr/>
        </p:nvPicPr>
        <p:blipFill>
          <a:blip r:embed="rId2"/>
          <a:stretch>
            <a:fillRect/>
          </a:stretch>
        </p:blipFill>
        <p:spPr>
          <a:xfrm>
            <a:off x="7026876" y="2347521"/>
            <a:ext cx="4068205" cy="203410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2204</TotalTime>
  <Words>1806</Words>
  <Application>Microsoft Office PowerPoint</Application>
  <PresentationFormat>Widescreen</PresentationFormat>
  <Paragraphs>258</Paragraphs>
  <Slides>17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NANI KUNCHALA</cp:lastModifiedBy>
  <cp:revision>3</cp:revision>
  <dcterms:created xsi:type="dcterms:W3CDTF">2013-01-27T09:14:16Z</dcterms:created>
  <dcterms:modified xsi:type="dcterms:W3CDTF">2026-08-14T03:34:47Z</dcterms:modified>
  <cp:category/>
</cp:coreProperties>
</file>